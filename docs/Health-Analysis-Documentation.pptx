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1drv.ms/x/c/5c96de2b5cf375c8/IQCf9Vnc81phSYgDGY5OHSUeAbY-MJBSO5USUpMOBcT4EZc?e=3SXhwC"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1drv.ms/x/c/5c96de2b5cf375c8/IQCf9Vnc81phSYgDGY5OHSUeAbY-MJBSO5USUpMOBcT4EZc?e=3SXhwC"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25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822960"/>
            <a:ext cx="457200" cy="73152"/>
          </a:xfrm>
          <a:prstGeom prst="rect">
            <a:avLst/>
          </a:prstGeom>
          <a:solidFill>
            <a:srgbClr val="D960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05840"/>
            <a:ext cx="10058400" cy="457200"/>
          </a:xfrm>
          <a:prstGeom prst="rect">
            <a:avLst/>
          </a:prstGeom>
          <a:noFill/>
        </p:spPr>
        <p:txBody>
          <a:bodyPr wrap="square" anchor="t" lIns="0" rIns="0" tIns="0" bIns="0">
            <a:spAutoFit/>
          </a:bodyPr>
          <a:lstStyle/>
          <a:p>
            <a:pPr algn="l"/>
            <a:r>
              <a:rPr sz="1200" b="1">
                <a:solidFill>
                  <a:srgbClr val="D9603F"/>
                </a:solidFill>
                <a:latin typeface="Calibri"/>
              </a:rPr>
              <a:t>HEALTH ANALYSIS</a:t>
            </a:r>
          </a:p>
        </p:txBody>
      </p:sp>
      <p:sp>
        <p:nvSpPr>
          <p:cNvPr id="5" name="TextBox 4"/>
          <p:cNvSpPr txBox="1"/>
          <p:nvPr/>
        </p:nvSpPr>
        <p:spPr>
          <a:xfrm>
            <a:off x="548640" y="1828800"/>
            <a:ext cx="10972800" cy="1828800"/>
          </a:xfrm>
          <a:prstGeom prst="rect">
            <a:avLst/>
          </a:prstGeom>
          <a:noFill/>
        </p:spPr>
        <p:txBody>
          <a:bodyPr wrap="square" anchor="t" lIns="0" rIns="0" tIns="0" bIns="0">
            <a:spAutoFit/>
          </a:bodyPr>
          <a:lstStyle/>
          <a:p>
            <a:pPr algn="l"/>
            <a:r>
              <a:rPr sz="5400" b="1">
                <a:solidFill>
                  <a:srgbClr val="FFFFFF"/>
                </a:solidFill>
                <a:latin typeface="Georgia"/>
              </a:rPr>
              <a:t>Healthcare data,
turned into decisions.</a:t>
            </a:r>
          </a:p>
        </p:txBody>
      </p:sp>
      <p:sp>
        <p:nvSpPr>
          <p:cNvPr id="6" name="Rectangle 5"/>
          <p:cNvSpPr/>
          <p:nvPr/>
        </p:nvSpPr>
        <p:spPr>
          <a:xfrm>
            <a:off x="548640" y="4023360"/>
            <a:ext cx="1828800" cy="36576"/>
          </a:xfrm>
          <a:prstGeom prst="rect">
            <a:avLst/>
          </a:prstGeom>
          <a:solidFill>
            <a:srgbClr val="D960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4297680"/>
            <a:ext cx="10058400" cy="548640"/>
          </a:xfrm>
          <a:prstGeom prst="rect">
            <a:avLst/>
          </a:prstGeom>
          <a:noFill/>
        </p:spPr>
        <p:txBody>
          <a:bodyPr wrap="square" anchor="t" lIns="0" rIns="0" tIns="0" bIns="0">
            <a:spAutoFit/>
          </a:bodyPr>
          <a:lstStyle/>
          <a:p>
            <a:pPr algn="l"/>
            <a:r>
              <a:rPr sz="1800" b="0">
                <a:solidFill>
                  <a:srgbClr val="F4F1EA"/>
                </a:solidFill>
                <a:latin typeface="Calibri"/>
              </a:rPr>
              <a:t>Two years of patient visit and cost data</a:t>
            </a:r>
          </a:p>
        </p:txBody>
      </p:sp>
      <p:sp>
        <p:nvSpPr>
          <p:cNvPr id="8" name="TextBox 7"/>
          <p:cNvSpPr txBox="1"/>
          <p:nvPr/>
        </p:nvSpPr>
        <p:spPr>
          <a:xfrm>
            <a:off x="548640" y="4663440"/>
            <a:ext cx="10058400" cy="457200"/>
          </a:xfrm>
          <a:prstGeom prst="rect">
            <a:avLst/>
          </a:prstGeom>
          <a:noFill/>
        </p:spPr>
        <p:txBody>
          <a:bodyPr wrap="square" anchor="t" lIns="0" rIns="0" tIns="0" bIns="0">
            <a:spAutoFit/>
          </a:bodyPr>
          <a:lstStyle/>
          <a:p>
            <a:pPr algn="l"/>
            <a:r>
              <a:rPr sz="1400" b="0">
                <a:solidFill>
                  <a:srgbClr val="C2A046"/>
                </a:solidFill>
                <a:latin typeface="Calibri"/>
              </a:rPr>
              <a:t>110,300 visits · $276M total cost · 7 diagnoses · 5 doctors</a:t>
            </a:r>
          </a:p>
        </p:txBody>
      </p:sp>
      <p:sp>
        <p:nvSpPr>
          <p:cNvPr id="9" name="TextBox 8"/>
          <p:cNvSpPr txBox="1"/>
          <p:nvPr/>
        </p:nvSpPr>
        <p:spPr>
          <a:xfrm>
            <a:off x="548640" y="6035040"/>
            <a:ext cx="10058400" cy="365760"/>
          </a:xfrm>
          <a:prstGeom prst="rect">
            <a:avLst/>
          </a:prstGeom>
          <a:noFill/>
        </p:spPr>
        <p:txBody>
          <a:bodyPr wrap="square" anchor="t" lIns="0" rIns="0" tIns="0" bIns="0">
            <a:spAutoFit/>
          </a:bodyPr>
          <a:lstStyle/>
          <a:p>
            <a:pPr algn="l"/>
            <a:r>
              <a:rPr sz="1100" b="0">
                <a:solidFill>
                  <a:srgbClr val="4A5460"/>
                </a:solidFill>
                <a:latin typeface="Calibri"/>
              </a:rPr>
              <a:t>Prepared by Bih Brandy  ·  Business Intelligence Analyst</a:t>
            </a:r>
          </a:p>
        </p:txBody>
      </p:sp>
      <p:sp>
        <p:nvSpPr>
          <p:cNvPr id="10" name="Rounded Rectangle 9">
            <a:hlinkClick r:id="rId2"/>
          </p:cNvPr>
          <p:cNvSpPr/>
          <p:nvPr/>
        </p:nvSpPr>
        <p:spPr>
          <a:xfrm>
            <a:off x="8412480" y="5943600"/>
            <a:ext cx="3291840" cy="457200"/>
          </a:xfrm>
          <a:prstGeom prst="roundRect">
            <a:avLst/>
          </a:prstGeom>
          <a:solidFill>
            <a:srgbClr val="D9603F"/>
          </a:solidFill>
          <a:ln>
            <a:noFill/>
          </a:ln>
        </p:spPr>
        <p:style>
          <a:lnRef idx="1">
            <a:schemeClr val="accent1"/>
          </a:lnRef>
          <a:fillRef idx="3">
            <a:schemeClr val="accent1"/>
          </a:fillRef>
          <a:effectRef idx="2">
            <a:schemeClr val="accent1"/>
          </a:effectRef>
          <a:fontRef idx="minor">
            <a:schemeClr val="lt1"/>
          </a:fontRef>
        </p:style>
        <p:txBody>
          <a:bodyPr rtlCol="0" anchor="ctr" lIns="137160" rIns="137160"/>
          <a:lstStyle/>
          <a:p>
            <a:pPr algn="ctr"/>
            <a:r>
              <a:rPr sz="1200" b="1">
                <a:solidFill>
                  <a:srgbClr val="FFFFFF"/>
                </a:solidFill>
                <a:latin typeface="Calibri"/>
              </a:rPr>
              <a:t>Open live workbook on OneDrive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3657600" cy="365760"/>
          </a:xfrm>
          <a:prstGeom prst="rect">
            <a:avLst/>
          </a:prstGeom>
          <a:noFill/>
        </p:spPr>
        <p:txBody>
          <a:bodyPr wrap="square" anchor="t" lIns="0" rIns="0" tIns="0" bIns="0">
            <a:spAutoFit/>
          </a:bodyPr>
          <a:lstStyle/>
          <a:p>
            <a:pPr algn="l"/>
            <a:r>
              <a:rPr sz="1100" b="1">
                <a:solidFill>
                  <a:srgbClr val="D9603F"/>
                </a:solidFill>
                <a:latin typeface="Calibri"/>
              </a:rPr>
              <a:t>01 · The brief</a:t>
            </a:r>
          </a:p>
        </p:txBody>
      </p:sp>
      <p:sp>
        <p:nvSpPr>
          <p:cNvPr id="4" name="TextBox 3"/>
          <p:cNvSpPr txBox="1"/>
          <p:nvPr/>
        </p:nvSpPr>
        <p:spPr>
          <a:xfrm>
            <a:off x="548640" y="914400"/>
            <a:ext cx="10058400" cy="1097280"/>
          </a:xfrm>
          <a:prstGeom prst="rect">
            <a:avLst/>
          </a:prstGeom>
          <a:noFill/>
        </p:spPr>
        <p:txBody>
          <a:bodyPr wrap="square" anchor="t" lIns="0" rIns="0" tIns="0" bIns="0">
            <a:spAutoFit/>
          </a:bodyPr>
          <a:lstStyle/>
          <a:p>
            <a:pPr algn="l"/>
            <a:r>
              <a:rPr sz="3600" b="1">
                <a:solidFill>
                  <a:srgbClr val="1A2530"/>
                </a:solidFill>
                <a:latin typeface="Georgia"/>
              </a:rPr>
              <a:t>What is the cost of care telling us
that operations alone cannot?</a:t>
            </a:r>
          </a:p>
        </p:txBody>
      </p:sp>
      <p:sp>
        <p:nvSpPr>
          <p:cNvPr id="5" name="TextBox 4"/>
          <p:cNvSpPr txBox="1"/>
          <p:nvPr/>
        </p:nvSpPr>
        <p:spPr>
          <a:xfrm>
            <a:off x="548640" y="2926080"/>
            <a:ext cx="10058400" cy="457200"/>
          </a:xfrm>
          <a:prstGeom prst="rect">
            <a:avLst/>
          </a:prstGeom>
          <a:noFill/>
        </p:spPr>
        <p:txBody>
          <a:bodyPr wrap="square" anchor="t" lIns="0" rIns="0" tIns="0" bIns="0">
            <a:spAutoFit/>
          </a:bodyPr>
          <a:lstStyle/>
          <a:p>
            <a:pPr algn="l"/>
            <a:r>
              <a:rPr sz="1400" b="1">
                <a:solidFill>
                  <a:srgbClr val="3D6655"/>
                </a:solidFill>
                <a:latin typeface="Calibri"/>
              </a:rPr>
              <a:t>The question driving this work:</a:t>
            </a:r>
          </a:p>
        </p:txBody>
      </p:sp>
      <p:sp>
        <p:nvSpPr>
          <p:cNvPr id="6" name="TextBox 5"/>
          <p:cNvSpPr txBox="1"/>
          <p:nvPr/>
        </p:nvSpPr>
        <p:spPr>
          <a:xfrm>
            <a:off x="548640" y="3474720"/>
            <a:ext cx="10058400" cy="2286000"/>
          </a:xfrm>
          <a:prstGeom prst="rect">
            <a:avLst/>
          </a:prstGeom>
          <a:noFill/>
        </p:spPr>
        <p:txBody>
          <a:bodyPr wrap="square" anchor="t" lIns="0" rIns="0" tIns="0" bIns="0">
            <a:spAutoFit/>
          </a:bodyPr>
          <a:lstStyle/>
          <a:p>
            <a:pPr algn="l"/>
            <a:r>
              <a:rPr sz="1500" b="0">
                <a:solidFill>
                  <a:srgbClr val="4A5460"/>
                </a:solidFill>
                <a:latin typeface="Calibri"/>
              </a:rPr>
              <a:t>Where is cost concentrated, which diagnoses drive volume, how is workload distributed across doctors, and what patterns in age and gender shape the patient mix? Operations sees the schedule. Finance sees the invoices. Neither sees the full picture. Bringing the data into one model surfaces decisions that neither view can make alone.</a:t>
            </a:r>
          </a:p>
        </p:txBody>
      </p:sp>
      <p:sp>
        <p:nvSpPr>
          <p:cNvPr id="7" name="Rectangle 6"/>
          <p:cNvSpPr/>
          <p:nvPr/>
        </p:nvSpPr>
        <p:spPr>
          <a:xfrm>
            <a:off x="0" y="6675120"/>
            <a:ext cx="12191695" cy="182880"/>
          </a:xfrm>
          <a:prstGeom prst="rect">
            <a:avLst/>
          </a:prstGeom>
          <a:solidFill>
            <a:srgbClr val="3D66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3657600" cy="365760"/>
          </a:xfrm>
          <a:prstGeom prst="rect">
            <a:avLst/>
          </a:prstGeom>
          <a:noFill/>
        </p:spPr>
        <p:txBody>
          <a:bodyPr wrap="square" anchor="t" lIns="0" rIns="0" tIns="0" bIns="0">
            <a:spAutoFit/>
          </a:bodyPr>
          <a:lstStyle/>
          <a:p>
            <a:pPr algn="l"/>
            <a:r>
              <a:rPr sz="1100" b="1">
                <a:solidFill>
                  <a:srgbClr val="D9603F"/>
                </a:solidFill>
                <a:latin typeface="Calibri"/>
              </a:rPr>
              <a:t>02 · The data</a:t>
            </a:r>
          </a:p>
        </p:txBody>
      </p:sp>
      <p:sp>
        <p:nvSpPr>
          <p:cNvPr id="4" name="TextBox 3"/>
          <p:cNvSpPr txBox="1"/>
          <p:nvPr/>
        </p:nvSpPr>
        <p:spPr>
          <a:xfrm>
            <a:off x="548640" y="914400"/>
            <a:ext cx="10058400" cy="731520"/>
          </a:xfrm>
          <a:prstGeom prst="rect">
            <a:avLst/>
          </a:prstGeom>
          <a:noFill/>
        </p:spPr>
        <p:txBody>
          <a:bodyPr wrap="square" anchor="t" lIns="0" rIns="0" tIns="0" bIns="0">
            <a:spAutoFit/>
          </a:bodyPr>
          <a:lstStyle/>
          <a:p>
            <a:pPr algn="l"/>
            <a:r>
              <a:rPr sz="3200" b="1">
                <a:solidFill>
                  <a:srgbClr val="1A2530"/>
                </a:solidFill>
                <a:latin typeface="Georgia"/>
              </a:rPr>
              <a:t>What sits underneath the dashboard</a:t>
            </a:r>
          </a:p>
        </p:txBody>
      </p:sp>
      <p:sp>
        <p:nvSpPr>
          <p:cNvPr id="5" name="Rectangle 4"/>
          <p:cNvSpPr/>
          <p:nvPr/>
        </p:nvSpPr>
        <p:spPr>
          <a:xfrm>
            <a:off x="548640" y="2194560"/>
            <a:ext cx="5394960" cy="4114800"/>
          </a:xfrm>
          <a:prstGeom prst="rect">
            <a:avLst/>
          </a:prstGeom>
          <a:solidFill>
            <a:srgbClr val="FBF9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377440"/>
            <a:ext cx="4937760" cy="365760"/>
          </a:xfrm>
          <a:prstGeom prst="rect">
            <a:avLst/>
          </a:prstGeom>
          <a:noFill/>
        </p:spPr>
        <p:txBody>
          <a:bodyPr wrap="square" anchor="t" lIns="0" rIns="0" tIns="0" bIns="0">
            <a:spAutoFit/>
          </a:bodyPr>
          <a:lstStyle/>
          <a:p>
            <a:pPr algn="l"/>
            <a:r>
              <a:rPr sz="1000" b="1">
                <a:solidFill>
                  <a:srgbClr val="D9603F"/>
                </a:solidFill>
                <a:latin typeface="Calibri"/>
              </a:rPr>
              <a:t>SOURCE</a:t>
            </a:r>
          </a:p>
        </p:txBody>
      </p:sp>
      <p:sp>
        <p:nvSpPr>
          <p:cNvPr id="7" name="TextBox 6"/>
          <p:cNvSpPr txBox="1"/>
          <p:nvPr/>
        </p:nvSpPr>
        <p:spPr>
          <a:xfrm>
            <a:off x="822960" y="2697480"/>
            <a:ext cx="4937760" cy="457200"/>
          </a:xfrm>
          <a:prstGeom prst="rect">
            <a:avLst/>
          </a:prstGeom>
          <a:noFill/>
        </p:spPr>
        <p:txBody>
          <a:bodyPr wrap="square" anchor="t" lIns="0" rIns="0" tIns="0" bIns="0">
            <a:spAutoFit/>
          </a:bodyPr>
          <a:lstStyle/>
          <a:p>
            <a:pPr algn="l"/>
            <a:r>
              <a:rPr sz="2000" b="1">
                <a:solidFill>
                  <a:srgbClr val="1A2530"/>
                </a:solidFill>
                <a:latin typeface="Georgia"/>
              </a:rPr>
              <a:t>Raw Data</a:t>
            </a:r>
          </a:p>
        </p:txBody>
      </p:sp>
      <p:sp>
        <p:nvSpPr>
          <p:cNvPr id="8" name="TextBox 7"/>
          <p:cNvSpPr txBox="1"/>
          <p:nvPr/>
        </p:nvSpPr>
        <p:spPr>
          <a:xfrm>
            <a:off x="822960" y="3291840"/>
            <a:ext cx="4937760" cy="2743200"/>
          </a:xfrm>
          <a:prstGeom prst="rect">
            <a:avLst/>
          </a:prstGeom>
          <a:noFill/>
        </p:spPr>
        <p:txBody>
          <a:bodyPr wrap="square" anchor="t" lIns="0" rIns="0" tIns="0" bIns="0">
            <a:spAutoFit/>
          </a:bodyPr>
          <a:lstStyle/>
          <a:p>
            <a:pPr algn="l"/>
            <a:r>
              <a:rPr sz="1300" b="0">
                <a:solidFill>
                  <a:srgbClr val="4A5460"/>
                </a:solidFill>
                <a:latin typeface="Calibri"/>
              </a:rPr>
              <a:t>114,000 rows of patient visit records
9 columns: visit date, patient ID, age, gender,
diagnosis, treatment, doctor, cost, age range
Mixed-case categorical values, inconsistent
date formats, missing doctor and diagnosis fields</a:t>
            </a:r>
          </a:p>
        </p:txBody>
      </p:sp>
      <p:sp>
        <p:nvSpPr>
          <p:cNvPr id="9" name="Rectangle 8"/>
          <p:cNvSpPr/>
          <p:nvPr/>
        </p:nvSpPr>
        <p:spPr>
          <a:xfrm>
            <a:off x="6217920" y="2194560"/>
            <a:ext cx="5394960" cy="4114800"/>
          </a:xfrm>
          <a:prstGeom prst="rect">
            <a:avLst/>
          </a:prstGeom>
          <a:solidFill>
            <a:srgbClr val="FBF9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2377440"/>
            <a:ext cx="4937760" cy="365760"/>
          </a:xfrm>
          <a:prstGeom prst="rect">
            <a:avLst/>
          </a:prstGeom>
          <a:noFill/>
        </p:spPr>
        <p:txBody>
          <a:bodyPr wrap="square" anchor="t" lIns="0" rIns="0" tIns="0" bIns="0">
            <a:spAutoFit/>
          </a:bodyPr>
          <a:lstStyle/>
          <a:p>
            <a:pPr algn="l"/>
            <a:r>
              <a:rPr sz="1000" b="1">
                <a:solidFill>
                  <a:srgbClr val="3D6655"/>
                </a:solidFill>
                <a:latin typeface="Calibri"/>
              </a:rPr>
              <a:t>CLEANED</a:t>
            </a:r>
          </a:p>
        </p:txBody>
      </p:sp>
      <p:sp>
        <p:nvSpPr>
          <p:cNvPr id="11" name="TextBox 10"/>
          <p:cNvSpPr txBox="1"/>
          <p:nvPr/>
        </p:nvSpPr>
        <p:spPr>
          <a:xfrm>
            <a:off x="6492240" y="2697480"/>
            <a:ext cx="4937760" cy="457200"/>
          </a:xfrm>
          <a:prstGeom prst="rect">
            <a:avLst/>
          </a:prstGeom>
          <a:noFill/>
        </p:spPr>
        <p:txBody>
          <a:bodyPr wrap="square" anchor="t" lIns="0" rIns="0" tIns="0" bIns="0">
            <a:spAutoFit/>
          </a:bodyPr>
          <a:lstStyle/>
          <a:p>
            <a:pPr algn="l"/>
            <a:r>
              <a:rPr sz="2000" b="1">
                <a:solidFill>
                  <a:srgbClr val="1A2530"/>
                </a:solidFill>
                <a:latin typeface="Georgia"/>
              </a:rPr>
              <a:t>Clean Data</a:t>
            </a:r>
          </a:p>
        </p:txBody>
      </p:sp>
      <p:sp>
        <p:nvSpPr>
          <p:cNvPr id="12" name="TextBox 11"/>
          <p:cNvSpPr txBox="1"/>
          <p:nvPr/>
        </p:nvSpPr>
        <p:spPr>
          <a:xfrm>
            <a:off x="6492240" y="3291840"/>
            <a:ext cx="4937760" cy="2743200"/>
          </a:xfrm>
          <a:prstGeom prst="rect">
            <a:avLst/>
          </a:prstGeom>
          <a:noFill/>
        </p:spPr>
        <p:txBody>
          <a:bodyPr wrap="square" anchor="t" lIns="0" rIns="0" tIns="0" bIns="0">
            <a:spAutoFit/>
          </a:bodyPr>
          <a:lstStyle/>
          <a:p>
            <a:pPr algn="l"/>
            <a:r>
              <a:rPr sz="1300" b="0">
                <a:solidFill>
                  <a:srgbClr val="4A5460"/>
                </a:solidFill>
                <a:latin typeface="Calibri"/>
              </a:rPr>
              <a:t>110,300 rows after deduplication and validation
11 columns including derived Age Group and Month
3,700 rows removed for invalid dates or null IDs
(3.2 percent of source)
Unassigned doctor and Unknown diagnosis flags
kept and quarantined for review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3657600" cy="365760"/>
          </a:xfrm>
          <a:prstGeom prst="rect">
            <a:avLst/>
          </a:prstGeom>
          <a:noFill/>
        </p:spPr>
        <p:txBody>
          <a:bodyPr wrap="square" anchor="t" lIns="0" rIns="0" tIns="0" bIns="0">
            <a:spAutoFit/>
          </a:bodyPr>
          <a:lstStyle/>
          <a:p>
            <a:pPr algn="l"/>
            <a:r>
              <a:rPr sz="1100" b="1">
                <a:solidFill>
                  <a:srgbClr val="D9603F"/>
                </a:solidFill>
                <a:latin typeface="Calibri"/>
              </a:rPr>
              <a:t>03 · Headline numbers</a:t>
            </a:r>
          </a:p>
        </p:txBody>
      </p:sp>
      <p:sp>
        <p:nvSpPr>
          <p:cNvPr id="4" name="TextBox 3"/>
          <p:cNvSpPr txBox="1"/>
          <p:nvPr/>
        </p:nvSpPr>
        <p:spPr>
          <a:xfrm>
            <a:off x="548640" y="914400"/>
            <a:ext cx="10058400" cy="731520"/>
          </a:xfrm>
          <a:prstGeom prst="rect">
            <a:avLst/>
          </a:prstGeom>
          <a:noFill/>
        </p:spPr>
        <p:txBody>
          <a:bodyPr wrap="square" anchor="t" lIns="0" rIns="0" tIns="0" bIns="0">
            <a:spAutoFit/>
          </a:bodyPr>
          <a:lstStyle/>
          <a:p>
            <a:pPr algn="l"/>
            <a:r>
              <a:rPr sz="3200" b="1">
                <a:solidFill>
                  <a:srgbClr val="1A2530"/>
                </a:solidFill>
                <a:latin typeface="Georgia"/>
              </a:rPr>
              <a:t>The picture in six numbers</a:t>
            </a:r>
          </a:p>
        </p:txBody>
      </p:sp>
      <p:sp>
        <p:nvSpPr>
          <p:cNvPr id="5" name="Rectangle 4"/>
          <p:cNvSpPr/>
          <p:nvPr/>
        </p:nvSpPr>
        <p:spPr>
          <a:xfrm>
            <a:off x="548640" y="2194560"/>
            <a:ext cx="3657600" cy="1828800"/>
          </a:xfrm>
          <a:prstGeom prst="rect">
            <a:avLst/>
          </a:prstGeom>
          <a:solidFill>
            <a:srgbClr val="FBF9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94560"/>
            <a:ext cx="73152" cy="1828800"/>
          </a:xfrm>
          <a:prstGeom prst="rect">
            <a:avLst/>
          </a:prstGeom>
          <a:solidFill>
            <a:srgbClr val="3D66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560320"/>
            <a:ext cx="3200400" cy="914400"/>
          </a:xfrm>
          <a:prstGeom prst="rect">
            <a:avLst/>
          </a:prstGeom>
          <a:noFill/>
        </p:spPr>
        <p:txBody>
          <a:bodyPr wrap="square" anchor="t" lIns="0" rIns="0" tIns="0" bIns="0">
            <a:spAutoFit/>
          </a:bodyPr>
          <a:lstStyle/>
          <a:p>
            <a:pPr algn="l"/>
            <a:r>
              <a:rPr sz="3600" b="1">
                <a:solidFill>
                  <a:srgbClr val="3D6655"/>
                </a:solidFill>
                <a:latin typeface="Georgia"/>
              </a:rPr>
              <a:t>$276M</a:t>
            </a:r>
          </a:p>
        </p:txBody>
      </p:sp>
      <p:sp>
        <p:nvSpPr>
          <p:cNvPr id="8" name="TextBox 7"/>
          <p:cNvSpPr txBox="1"/>
          <p:nvPr/>
        </p:nvSpPr>
        <p:spPr>
          <a:xfrm>
            <a:off x="822960" y="3474720"/>
            <a:ext cx="3200400" cy="457200"/>
          </a:xfrm>
          <a:prstGeom prst="rect">
            <a:avLst/>
          </a:prstGeom>
          <a:noFill/>
        </p:spPr>
        <p:txBody>
          <a:bodyPr wrap="square" anchor="t" lIns="0" rIns="0" tIns="0" bIns="0">
            <a:spAutoFit/>
          </a:bodyPr>
          <a:lstStyle/>
          <a:p>
            <a:pPr algn="l"/>
            <a:r>
              <a:rPr sz="1200" b="0">
                <a:solidFill>
                  <a:srgbClr val="4A5460"/>
                </a:solidFill>
                <a:latin typeface="Calibri"/>
              </a:rPr>
              <a:t>Total cost across 2 years</a:t>
            </a:r>
          </a:p>
        </p:txBody>
      </p:sp>
      <p:sp>
        <p:nvSpPr>
          <p:cNvPr id="9" name="Rectangle 8"/>
          <p:cNvSpPr/>
          <p:nvPr/>
        </p:nvSpPr>
        <p:spPr>
          <a:xfrm>
            <a:off x="4297680" y="2194560"/>
            <a:ext cx="3657600" cy="1828800"/>
          </a:xfrm>
          <a:prstGeom prst="rect">
            <a:avLst/>
          </a:prstGeom>
          <a:solidFill>
            <a:srgbClr val="FBF9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97680" y="2194560"/>
            <a:ext cx="73152" cy="1828800"/>
          </a:xfrm>
          <a:prstGeom prst="rect">
            <a:avLst/>
          </a:prstGeom>
          <a:solidFill>
            <a:srgbClr val="D960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2560320"/>
            <a:ext cx="3200400" cy="914400"/>
          </a:xfrm>
          <a:prstGeom prst="rect">
            <a:avLst/>
          </a:prstGeom>
          <a:noFill/>
        </p:spPr>
        <p:txBody>
          <a:bodyPr wrap="square" anchor="t" lIns="0" rIns="0" tIns="0" bIns="0">
            <a:spAutoFit/>
          </a:bodyPr>
          <a:lstStyle/>
          <a:p>
            <a:pPr algn="l"/>
            <a:r>
              <a:rPr sz="3600" b="1">
                <a:solidFill>
                  <a:srgbClr val="D9603F"/>
                </a:solidFill>
                <a:latin typeface="Georgia"/>
              </a:rPr>
              <a:t>110,300</a:t>
            </a:r>
          </a:p>
        </p:txBody>
      </p:sp>
      <p:sp>
        <p:nvSpPr>
          <p:cNvPr id="12" name="TextBox 11"/>
          <p:cNvSpPr txBox="1"/>
          <p:nvPr/>
        </p:nvSpPr>
        <p:spPr>
          <a:xfrm>
            <a:off x="4572000" y="3474720"/>
            <a:ext cx="3200400" cy="457200"/>
          </a:xfrm>
          <a:prstGeom prst="rect">
            <a:avLst/>
          </a:prstGeom>
          <a:noFill/>
        </p:spPr>
        <p:txBody>
          <a:bodyPr wrap="square" anchor="t" lIns="0" rIns="0" tIns="0" bIns="0">
            <a:spAutoFit/>
          </a:bodyPr>
          <a:lstStyle/>
          <a:p>
            <a:pPr algn="l"/>
            <a:r>
              <a:rPr sz="1200" b="0">
                <a:solidFill>
                  <a:srgbClr val="4A5460"/>
                </a:solidFill>
                <a:latin typeface="Calibri"/>
              </a:rPr>
              <a:t>Patient visits processed</a:t>
            </a:r>
          </a:p>
        </p:txBody>
      </p:sp>
      <p:sp>
        <p:nvSpPr>
          <p:cNvPr id="13" name="Rectangle 12"/>
          <p:cNvSpPr/>
          <p:nvPr/>
        </p:nvSpPr>
        <p:spPr>
          <a:xfrm>
            <a:off x="8046720" y="2194560"/>
            <a:ext cx="3657600" cy="1828800"/>
          </a:xfrm>
          <a:prstGeom prst="rect">
            <a:avLst/>
          </a:prstGeom>
          <a:solidFill>
            <a:srgbClr val="FBF9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6720" y="2194560"/>
            <a:ext cx="73152" cy="1828800"/>
          </a:xfrm>
          <a:prstGeom prst="rect">
            <a:avLst/>
          </a:prstGeom>
          <a:solidFill>
            <a:srgbClr val="5F7F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2560320"/>
            <a:ext cx="3200400" cy="914400"/>
          </a:xfrm>
          <a:prstGeom prst="rect">
            <a:avLst/>
          </a:prstGeom>
          <a:noFill/>
        </p:spPr>
        <p:txBody>
          <a:bodyPr wrap="square" anchor="t" lIns="0" rIns="0" tIns="0" bIns="0">
            <a:spAutoFit/>
          </a:bodyPr>
          <a:lstStyle/>
          <a:p>
            <a:pPr algn="l"/>
            <a:r>
              <a:rPr sz="3600" b="1">
                <a:solidFill>
                  <a:srgbClr val="5F7FAA"/>
                </a:solidFill>
                <a:latin typeface="Georgia"/>
              </a:rPr>
              <a:t>$2,501</a:t>
            </a:r>
          </a:p>
        </p:txBody>
      </p:sp>
      <p:sp>
        <p:nvSpPr>
          <p:cNvPr id="16" name="TextBox 15"/>
          <p:cNvSpPr txBox="1"/>
          <p:nvPr/>
        </p:nvSpPr>
        <p:spPr>
          <a:xfrm>
            <a:off x="8321040" y="3474720"/>
            <a:ext cx="3200400" cy="457200"/>
          </a:xfrm>
          <a:prstGeom prst="rect">
            <a:avLst/>
          </a:prstGeom>
          <a:noFill/>
        </p:spPr>
        <p:txBody>
          <a:bodyPr wrap="square" anchor="t" lIns="0" rIns="0" tIns="0" bIns="0">
            <a:spAutoFit/>
          </a:bodyPr>
          <a:lstStyle/>
          <a:p>
            <a:pPr algn="l"/>
            <a:r>
              <a:rPr sz="1200" b="0">
                <a:solidFill>
                  <a:srgbClr val="4A5460"/>
                </a:solidFill>
                <a:latin typeface="Calibri"/>
              </a:rPr>
              <a:t>Mean ticket per visit</a:t>
            </a:r>
          </a:p>
        </p:txBody>
      </p:sp>
      <p:sp>
        <p:nvSpPr>
          <p:cNvPr id="17" name="Rectangle 16"/>
          <p:cNvSpPr/>
          <p:nvPr/>
        </p:nvSpPr>
        <p:spPr>
          <a:xfrm>
            <a:off x="548640" y="4206240"/>
            <a:ext cx="3657600" cy="1828800"/>
          </a:xfrm>
          <a:prstGeom prst="rect">
            <a:avLst/>
          </a:prstGeom>
          <a:solidFill>
            <a:srgbClr val="FBF9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206240"/>
            <a:ext cx="73152" cy="1828800"/>
          </a:xfrm>
          <a:prstGeom prst="rect">
            <a:avLst/>
          </a:prstGeom>
          <a:solidFill>
            <a:srgbClr val="C2A0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572000"/>
            <a:ext cx="3200400" cy="914400"/>
          </a:xfrm>
          <a:prstGeom prst="rect">
            <a:avLst/>
          </a:prstGeom>
          <a:noFill/>
        </p:spPr>
        <p:txBody>
          <a:bodyPr wrap="square" anchor="t" lIns="0" rIns="0" tIns="0" bIns="0">
            <a:spAutoFit/>
          </a:bodyPr>
          <a:lstStyle/>
          <a:p>
            <a:pPr algn="l"/>
            <a:r>
              <a:rPr sz="3600" b="1">
                <a:solidFill>
                  <a:srgbClr val="C2A046"/>
                </a:solidFill>
                <a:latin typeface="Georgia"/>
              </a:rPr>
              <a:t>5,000</a:t>
            </a:r>
          </a:p>
        </p:txBody>
      </p:sp>
      <p:sp>
        <p:nvSpPr>
          <p:cNvPr id="20" name="TextBox 19"/>
          <p:cNvSpPr txBox="1"/>
          <p:nvPr/>
        </p:nvSpPr>
        <p:spPr>
          <a:xfrm>
            <a:off x="822960" y="5486400"/>
            <a:ext cx="3200400" cy="457200"/>
          </a:xfrm>
          <a:prstGeom prst="rect">
            <a:avLst/>
          </a:prstGeom>
          <a:noFill/>
        </p:spPr>
        <p:txBody>
          <a:bodyPr wrap="square" anchor="t" lIns="0" rIns="0" tIns="0" bIns="0">
            <a:spAutoFit/>
          </a:bodyPr>
          <a:lstStyle/>
          <a:p>
            <a:pPr algn="l"/>
            <a:r>
              <a:rPr sz="1200" b="0">
                <a:solidFill>
                  <a:srgbClr val="4A5460"/>
                </a:solidFill>
                <a:latin typeface="Calibri"/>
              </a:rPr>
              <a:t>Unique patients seen</a:t>
            </a:r>
          </a:p>
        </p:txBody>
      </p:sp>
      <p:sp>
        <p:nvSpPr>
          <p:cNvPr id="21" name="Rectangle 20"/>
          <p:cNvSpPr/>
          <p:nvPr/>
        </p:nvSpPr>
        <p:spPr>
          <a:xfrm>
            <a:off x="4297680" y="4206240"/>
            <a:ext cx="3657600" cy="1828800"/>
          </a:xfrm>
          <a:prstGeom prst="rect">
            <a:avLst/>
          </a:prstGeom>
          <a:solidFill>
            <a:srgbClr val="FBF9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297680" y="4206240"/>
            <a:ext cx="73152" cy="1828800"/>
          </a:xfrm>
          <a:prstGeom prst="rect">
            <a:avLst/>
          </a:prstGeom>
          <a:solidFill>
            <a:srgbClr val="3D66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0" y="4572000"/>
            <a:ext cx="3200400" cy="914400"/>
          </a:xfrm>
          <a:prstGeom prst="rect">
            <a:avLst/>
          </a:prstGeom>
          <a:noFill/>
        </p:spPr>
        <p:txBody>
          <a:bodyPr wrap="square" anchor="t" lIns="0" rIns="0" tIns="0" bIns="0">
            <a:spAutoFit/>
          </a:bodyPr>
          <a:lstStyle/>
          <a:p>
            <a:pPr algn="l"/>
            <a:r>
              <a:rPr sz="3600" b="1">
                <a:solidFill>
                  <a:srgbClr val="3D6655"/>
                </a:solidFill>
                <a:latin typeface="Georgia"/>
              </a:rPr>
              <a:t>7</a:t>
            </a:r>
          </a:p>
        </p:txBody>
      </p:sp>
      <p:sp>
        <p:nvSpPr>
          <p:cNvPr id="24" name="TextBox 23"/>
          <p:cNvSpPr txBox="1"/>
          <p:nvPr/>
        </p:nvSpPr>
        <p:spPr>
          <a:xfrm>
            <a:off x="4572000" y="5486400"/>
            <a:ext cx="3200400" cy="457200"/>
          </a:xfrm>
          <a:prstGeom prst="rect">
            <a:avLst/>
          </a:prstGeom>
          <a:noFill/>
        </p:spPr>
        <p:txBody>
          <a:bodyPr wrap="square" anchor="t" lIns="0" rIns="0" tIns="0" bIns="0">
            <a:spAutoFit/>
          </a:bodyPr>
          <a:lstStyle/>
          <a:p>
            <a:pPr algn="l"/>
            <a:r>
              <a:rPr sz="1200" b="0">
                <a:solidFill>
                  <a:srgbClr val="4A5460"/>
                </a:solidFill>
                <a:latin typeface="Calibri"/>
              </a:rPr>
              <a:t>Diagnosis categories tracked</a:t>
            </a:r>
          </a:p>
        </p:txBody>
      </p:sp>
      <p:sp>
        <p:nvSpPr>
          <p:cNvPr id="25" name="Rectangle 24"/>
          <p:cNvSpPr/>
          <p:nvPr/>
        </p:nvSpPr>
        <p:spPr>
          <a:xfrm>
            <a:off x="8046720" y="4206240"/>
            <a:ext cx="3657600" cy="1828800"/>
          </a:xfrm>
          <a:prstGeom prst="rect">
            <a:avLst/>
          </a:prstGeom>
          <a:solidFill>
            <a:srgbClr val="FBF9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046720" y="4206240"/>
            <a:ext cx="73152" cy="1828800"/>
          </a:xfrm>
          <a:prstGeom prst="rect">
            <a:avLst/>
          </a:prstGeom>
          <a:solidFill>
            <a:srgbClr val="D960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21040" y="4572000"/>
            <a:ext cx="3200400" cy="914400"/>
          </a:xfrm>
          <a:prstGeom prst="rect">
            <a:avLst/>
          </a:prstGeom>
          <a:noFill/>
        </p:spPr>
        <p:txBody>
          <a:bodyPr wrap="square" anchor="t" lIns="0" rIns="0" tIns="0" bIns="0">
            <a:spAutoFit/>
          </a:bodyPr>
          <a:lstStyle/>
          <a:p>
            <a:pPr algn="l"/>
            <a:r>
              <a:rPr sz="3600" b="1">
                <a:solidFill>
                  <a:srgbClr val="D9603F"/>
                </a:solidFill>
                <a:latin typeface="Georgia"/>
              </a:rPr>
              <a:t>22 visits</a:t>
            </a:r>
          </a:p>
        </p:txBody>
      </p:sp>
      <p:sp>
        <p:nvSpPr>
          <p:cNvPr id="28" name="TextBox 27"/>
          <p:cNvSpPr txBox="1"/>
          <p:nvPr/>
        </p:nvSpPr>
        <p:spPr>
          <a:xfrm>
            <a:off x="8321040" y="5486400"/>
            <a:ext cx="3200400" cy="457200"/>
          </a:xfrm>
          <a:prstGeom prst="rect">
            <a:avLst/>
          </a:prstGeom>
          <a:noFill/>
        </p:spPr>
        <p:txBody>
          <a:bodyPr wrap="square" anchor="t" lIns="0" rIns="0" tIns="0" bIns="0">
            <a:spAutoFit/>
          </a:bodyPr>
          <a:lstStyle/>
          <a:p>
            <a:pPr algn="l"/>
            <a:r>
              <a:rPr sz="1200" b="0">
                <a:solidFill>
                  <a:srgbClr val="4A5460"/>
                </a:solidFill>
                <a:latin typeface="Calibri"/>
              </a:rPr>
              <a:t>Average visits per patient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3657600" cy="365760"/>
          </a:xfrm>
          <a:prstGeom prst="rect">
            <a:avLst/>
          </a:prstGeom>
          <a:noFill/>
        </p:spPr>
        <p:txBody>
          <a:bodyPr wrap="square" anchor="t" lIns="0" rIns="0" tIns="0" bIns="0">
            <a:spAutoFit/>
          </a:bodyPr>
          <a:lstStyle/>
          <a:p>
            <a:pPr algn="l"/>
            <a:r>
              <a:rPr sz="1100" b="1">
                <a:solidFill>
                  <a:srgbClr val="D9603F"/>
                </a:solidFill>
                <a:latin typeface="Calibri"/>
              </a:rPr>
              <a:t>04 · Executive overview</a:t>
            </a:r>
          </a:p>
        </p:txBody>
      </p:sp>
      <p:sp>
        <p:nvSpPr>
          <p:cNvPr id="4" name="TextBox 3"/>
          <p:cNvSpPr txBox="1"/>
          <p:nvPr/>
        </p:nvSpPr>
        <p:spPr>
          <a:xfrm>
            <a:off x="548640" y="731520"/>
            <a:ext cx="10058400" cy="548640"/>
          </a:xfrm>
          <a:prstGeom prst="rect">
            <a:avLst/>
          </a:prstGeom>
          <a:noFill/>
        </p:spPr>
        <p:txBody>
          <a:bodyPr wrap="square" anchor="t" lIns="0" rIns="0" tIns="0" bIns="0">
            <a:spAutoFit/>
          </a:bodyPr>
          <a:lstStyle/>
          <a:p>
            <a:pPr algn="l"/>
            <a:r>
              <a:rPr sz="2400" b="1">
                <a:solidFill>
                  <a:srgbClr val="1A2530"/>
                </a:solidFill>
                <a:latin typeface="Georgia"/>
              </a:rPr>
              <a:t>Cost is evenly spread, with one exception</a:t>
            </a:r>
          </a:p>
        </p:txBody>
      </p:sp>
      <p:pic>
        <p:nvPicPr>
          <p:cNvPr id="5" name="Picture 4" descr="01-executive-overview.jpg"/>
          <p:cNvPicPr>
            <a:picLocks noChangeAspect="1"/>
          </p:cNvPicPr>
          <p:nvPr/>
        </p:nvPicPr>
        <p:blipFill>
          <a:blip r:embed="rId2"/>
          <a:stretch>
            <a:fillRect/>
          </a:stretch>
        </p:blipFill>
        <p:spPr>
          <a:xfrm>
            <a:off x="548640" y="1463040"/>
            <a:ext cx="11064240" cy="6595848"/>
          </a:xfrm>
          <a:prstGeom prst="rect">
            <a:avLst/>
          </a:prstGeom>
        </p:spPr>
      </p:pic>
      <p:sp>
        <p:nvSpPr>
          <p:cNvPr id="6" name="TextBox 5"/>
          <p:cNvSpPr txBox="1"/>
          <p:nvPr/>
        </p:nvSpPr>
        <p:spPr>
          <a:xfrm>
            <a:off x="548640" y="6400800"/>
            <a:ext cx="10972800" cy="365760"/>
          </a:xfrm>
          <a:prstGeom prst="rect">
            <a:avLst/>
          </a:prstGeom>
          <a:noFill/>
        </p:spPr>
        <p:txBody>
          <a:bodyPr wrap="square" anchor="t" lIns="0" rIns="0" tIns="0" bIns="0">
            <a:spAutoFit/>
          </a:bodyPr>
          <a:lstStyle/>
          <a:p>
            <a:pPr algn="l"/>
            <a:r>
              <a:rPr sz="1100" b="0">
                <a:solidFill>
                  <a:srgbClr val="4A5460"/>
                </a:solidFill>
                <a:latin typeface="Calibri"/>
              </a:rPr>
              <a:t>Six of seven named diagnoses sit within a $1M band. The Unknown category alone shows a $17M gap to the leaders.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3657600" cy="365760"/>
          </a:xfrm>
          <a:prstGeom prst="rect">
            <a:avLst/>
          </a:prstGeom>
          <a:noFill/>
        </p:spPr>
        <p:txBody>
          <a:bodyPr wrap="square" anchor="t" lIns="0" rIns="0" tIns="0" bIns="0">
            <a:spAutoFit/>
          </a:bodyPr>
          <a:lstStyle/>
          <a:p>
            <a:pPr algn="l"/>
            <a:r>
              <a:rPr sz="1100" b="1">
                <a:solidFill>
                  <a:srgbClr val="D9603F"/>
                </a:solidFill>
                <a:latin typeface="Calibri"/>
              </a:rPr>
              <a:t>05 · Diagnosis breakdown</a:t>
            </a:r>
          </a:p>
        </p:txBody>
      </p:sp>
      <p:sp>
        <p:nvSpPr>
          <p:cNvPr id="4" name="TextBox 3"/>
          <p:cNvSpPr txBox="1"/>
          <p:nvPr/>
        </p:nvSpPr>
        <p:spPr>
          <a:xfrm>
            <a:off x="548640" y="731520"/>
            <a:ext cx="10058400" cy="548640"/>
          </a:xfrm>
          <a:prstGeom prst="rect">
            <a:avLst/>
          </a:prstGeom>
          <a:noFill/>
        </p:spPr>
        <p:txBody>
          <a:bodyPr wrap="square" anchor="t" lIns="0" rIns="0" tIns="0" bIns="0">
            <a:spAutoFit/>
          </a:bodyPr>
          <a:lstStyle/>
          <a:p>
            <a:pPr algn="l"/>
            <a:r>
              <a:rPr sz="2400" b="1">
                <a:solidFill>
                  <a:srgbClr val="1A2530"/>
                </a:solidFill>
                <a:latin typeface="Georgia"/>
              </a:rPr>
              <a:t>Volume and ticket size move together</a:t>
            </a:r>
          </a:p>
        </p:txBody>
      </p:sp>
      <p:pic>
        <p:nvPicPr>
          <p:cNvPr id="5" name="Picture 4" descr="02-diagnosis-breakdown.jpg"/>
          <p:cNvPicPr>
            <a:picLocks noChangeAspect="1"/>
          </p:cNvPicPr>
          <p:nvPr/>
        </p:nvPicPr>
        <p:blipFill>
          <a:blip r:embed="rId2"/>
          <a:stretch>
            <a:fillRect/>
          </a:stretch>
        </p:blipFill>
        <p:spPr>
          <a:xfrm>
            <a:off x="548640" y="1463040"/>
            <a:ext cx="11064240" cy="5082138"/>
          </a:xfrm>
          <a:prstGeom prst="rect">
            <a:avLst/>
          </a:prstGeom>
        </p:spPr>
      </p:pic>
      <p:sp>
        <p:nvSpPr>
          <p:cNvPr id="6" name="TextBox 5"/>
          <p:cNvSpPr txBox="1"/>
          <p:nvPr/>
        </p:nvSpPr>
        <p:spPr>
          <a:xfrm>
            <a:off x="548640" y="6400800"/>
            <a:ext cx="10972800" cy="365760"/>
          </a:xfrm>
          <a:prstGeom prst="rect">
            <a:avLst/>
          </a:prstGeom>
          <a:noFill/>
        </p:spPr>
        <p:txBody>
          <a:bodyPr wrap="square" anchor="t" lIns="0" rIns="0" tIns="0" bIns="0">
            <a:spAutoFit/>
          </a:bodyPr>
          <a:lstStyle/>
          <a:p>
            <a:pPr algn="l"/>
            <a:r>
              <a:rPr sz="1100" b="0">
                <a:solidFill>
                  <a:srgbClr val="4A5460"/>
                </a:solidFill>
                <a:latin typeface="Calibri"/>
              </a:rPr>
              <a:t>Average cost per visit lands between $2,497 and $2,508 across diagnoses. The cost story is driven by volume, not severity.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3657600" cy="365760"/>
          </a:xfrm>
          <a:prstGeom prst="rect">
            <a:avLst/>
          </a:prstGeom>
          <a:noFill/>
        </p:spPr>
        <p:txBody>
          <a:bodyPr wrap="square" anchor="t" lIns="0" rIns="0" tIns="0" bIns="0">
            <a:spAutoFit/>
          </a:bodyPr>
          <a:lstStyle/>
          <a:p>
            <a:pPr algn="l"/>
            <a:r>
              <a:rPr sz="1100" b="1">
                <a:solidFill>
                  <a:srgbClr val="D9603F"/>
                </a:solidFill>
                <a:latin typeface="Calibri"/>
              </a:rPr>
              <a:t>06 · Doctor performance</a:t>
            </a:r>
          </a:p>
        </p:txBody>
      </p:sp>
      <p:sp>
        <p:nvSpPr>
          <p:cNvPr id="4" name="TextBox 3"/>
          <p:cNvSpPr txBox="1"/>
          <p:nvPr/>
        </p:nvSpPr>
        <p:spPr>
          <a:xfrm>
            <a:off x="548640" y="731520"/>
            <a:ext cx="10058400" cy="548640"/>
          </a:xfrm>
          <a:prstGeom prst="rect">
            <a:avLst/>
          </a:prstGeom>
          <a:noFill/>
        </p:spPr>
        <p:txBody>
          <a:bodyPr wrap="square" anchor="t" lIns="0" rIns="0" tIns="0" bIns="0">
            <a:spAutoFit/>
          </a:bodyPr>
          <a:lstStyle/>
          <a:p>
            <a:pPr algn="l"/>
            <a:r>
              <a:rPr sz="2400" b="1">
                <a:solidFill>
                  <a:srgbClr val="1A2530"/>
                </a:solidFill>
                <a:latin typeface="Georgia"/>
              </a:rPr>
              <a:t>Caseload is balanced across the five named doctors</a:t>
            </a:r>
          </a:p>
        </p:txBody>
      </p:sp>
      <p:pic>
        <p:nvPicPr>
          <p:cNvPr id="5" name="Picture 4" descr="03-doctor-performance.jpg"/>
          <p:cNvPicPr>
            <a:picLocks noChangeAspect="1"/>
          </p:cNvPicPr>
          <p:nvPr/>
        </p:nvPicPr>
        <p:blipFill>
          <a:blip r:embed="rId2"/>
          <a:stretch>
            <a:fillRect/>
          </a:stretch>
        </p:blipFill>
        <p:spPr>
          <a:xfrm>
            <a:off x="548640" y="1463040"/>
            <a:ext cx="11064240" cy="5085180"/>
          </a:xfrm>
          <a:prstGeom prst="rect">
            <a:avLst/>
          </a:prstGeom>
        </p:spPr>
      </p:pic>
      <p:sp>
        <p:nvSpPr>
          <p:cNvPr id="6" name="TextBox 5"/>
          <p:cNvSpPr txBox="1"/>
          <p:nvPr/>
        </p:nvSpPr>
        <p:spPr>
          <a:xfrm>
            <a:off x="548640" y="6400800"/>
            <a:ext cx="10972800" cy="365760"/>
          </a:xfrm>
          <a:prstGeom prst="rect">
            <a:avLst/>
          </a:prstGeom>
          <a:noFill/>
        </p:spPr>
        <p:txBody>
          <a:bodyPr wrap="square" anchor="t" lIns="0" rIns="0" tIns="0" bIns="0">
            <a:spAutoFit/>
          </a:bodyPr>
          <a:lstStyle/>
          <a:p>
            <a:pPr algn="l"/>
            <a:r>
              <a:rPr sz="1100" b="0">
                <a:solidFill>
                  <a:srgbClr val="4A5460"/>
                </a:solidFill>
                <a:latin typeface="Calibri"/>
              </a:rPr>
              <a:t>Each named doctor handles between $53.3M and $53.7M in revenue. The Unassigned bucket holds $8.3M that needs attribution.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3657600" cy="365760"/>
          </a:xfrm>
          <a:prstGeom prst="rect">
            <a:avLst/>
          </a:prstGeom>
          <a:noFill/>
        </p:spPr>
        <p:txBody>
          <a:bodyPr wrap="square" anchor="t" lIns="0" rIns="0" tIns="0" bIns="0">
            <a:spAutoFit/>
          </a:bodyPr>
          <a:lstStyle/>
          <a:p>
            <a:pPr algn="l"/>
            <a:r>
              <a:rPr sz="1100" b="1">
                <a:solidFill>
                  <a:srgbClr val="D9603F"/>
                </a:solidFill>
                <a:latin typeface="Calibri"/>
              </a:rPr>
              <a:t>07 · Demographics</a:t>
            </a:r>
          </a:p>
        </p:txBody>
      </p:sp>
      <p:sp>
        <p:nvSpPr>
          <p:cNvPr id="4" name="TextBox 3"/>
          <p:cNvSpPr txBox="1"/>
          <p:nvPr/>
        </p:nvSpPr>
        <p:spPr>
          <a:xfrm>
            <a:off x="548640" y="731520"/>
            <a:ext cx="10058400" cy="548640"/>
          </a:xfrm>
          <a:prstGeom prst="rect">
            <a:avLst/>
          </a:prstGeom>
          <a:noFill/>
        </p:spPr>
        <p:txBody>
          <a:bodyPr wrap="square" anchor="t" lIns="0" rIns="0" tIns="0" bIns="0">
            <a:spAutoFit/>
          </a:bodyPr>
          <a:lstStyle/>
          <a:p>
            <a:pPr algn="l"/>
            <a:r>
              <a:rPr sz="2400" b="1">
                <a:solidFill>
                  <a:srgbClr val="1A2530"/>
                </a:solidFill>
                <a:latin typeface="Georgia"/>
              </a:rPr>
              <a:t>Who is being seen</a:t>
            </a:r>
          </a:p>
        </p:txBody>
      </p:sp>
      <p:pic>
        <p:nvPicPr>
          <p:cNvPr id="5" name="Picture 4" descr="04-demographics.jpg"/>
          <p:cNvPicPr>
            <a:picLocks noChangeAspect="1"/>
          </p:cNvPicPr>
          <p:nvPr/>
        </p:nvPicPr>
        <p:blipFill>
          <a:blip r:embed="rId2"/>
          <a:stretch>
            <a:fillRect/>
          </a:stretch>
        </p:blipFill>
        <p:spPr>
          <a:xfrm>
            <a:off x="548640" y="1463040"/>
            <a:ext cx="11064240" cy="5415765"/>
          </a:xfrm>
          <a:prstGeom prst="rect">
            <a:avLst/>
          </a:prstGeom>
        </p:spPr>
      </p:pic>
      <p:sp>
        <p:nvSpPr>
          <p:cNvPr id="6" name="TextBox 5"/>
          <p:cNvSpPr txBox="1"/>
          <p:nvPr/>
        </p:nvSpPr>
        <p:spPr>
          <a:xfrm>
            <a:off x="548640" y="6400800"/>
            <a:ext cx="10972800" cy="365760"/>
          </a:xfrm>
          <a:prstGeom prst="rect">
            <a:avLst/>
          </a:prstGeom>
          <a:noFill/>
        </p:spPr>
        <p:txBody>
          <a:bodyPr wrap="square" anchor="t" lIns="0" rIns="0" tIns="0" bIns="0">
            <a:spAutoFit/>
          </a:bodyPr>
          <a:lstStyle/>
          <a:p>
            <a:pPr algn="l"/>
            <a:r>
              <a:rPr sz="1100" b="0">
                <a:solidFill>
                  <a:srgbClr val="4A5460"/>
                </a:solidFill>
                <a:latin typeface="Calibri"/>
              </a:rPr>
              <a:t>The 70+ group shows the highest visit volume at 33,206. Gender split is near-even across Female, Male, and Other.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3657600" cy="365760"/>
          </a:xfrm>
          <a:prstGeom prst="rect">
            <a:avLst/>
          </a:prstGeom>
          <a:noFill/>
        </p:spPr>
        <p:txBody>
          <a:bodyPr wrap="square" anchor="t" lIns="0" rIns="0" tIns="0" bIns="0">
            <a:spAutoFit/>
          </a:bodyPr>
          <a:lstStyle/>
          <a:p>
            <a:pPr algn="l"/>
            <a:r>
              <a:rPr sz="1100" b="1">
                <a:solidFill>
                  <a:srgbClr val="D9603F"/>
                </a:solidFill>
                <a:latin typeface="Calibri"/>
              </a:rPr>
              <a:t>08 · Treatment mix</a:t>
            </a:r>
          </a:p>
        </p:txBody>
      </p:sp>
      <p:sp>
        <p:nvSpPr>
          <p:cNvPr id="4" name="TextBox 3"/>
          <p:cNvSpPr txBox="1"/>
          <p:nvPr/>
        </p:nvSpPr>
        <p:spPr>
          <a:xfrm>
            <a:off x="548640" y="731520"/>
            <a:ext cx="10058400" cy="548640"/>
          </a:xfrm>
          <a:prstGeom prst="rect">
            <a:avLst/>
          </a:prstGeom>
          <a:noFill/>
        </p:spPr>
        <p:txBody>
          <a:bodyPr wrap="square" anchor="t" lIns="0" rIns="0" tIns="0" bIns="0">
            <a:spAutoFit/>
          </a:bodyPr>
          <a:lstStyle/>
          <a:p>
            <a:pPr algn="l"/>
            <a:r>
              <a:rPr sz="2400" b="1">
                <a:solidFill>
                  <a:srgbClr val="1A2530"/>
                </a:solidFill>
                <a:latin typeface="Georgia"/>
              </a:rPr>
              <a:t>Four treatment types, four near-identical averages</a:t>
            </a:r>
          </a:p>
        </p:txBody>
      </p:sp>
      <p:pic>
        <p:nvPicPr>
          <p:cNvPr id="5" name="Picture 4" descr="05-treatment-mix.jpg"/>
          <p:cNvPicPr>
            <a:picLocks noChangeAspect="1"/>
          </p:cNvPicPr>
          <p:nvPr/>
        </p:nvPicPr>
        <p:blipFill>
          <a:blip r:embed="rId2"/>
          <a:stretch>
            <a:fillRect/>
          </a:stretch>
        </p:blipFill>
        <p:spPr>
          <a:xfrm>
            <a:off x="548640" y="1463040"/>
            <a:ext cx="11064240" cy="5085180"/>
          </a:xfrm>
          <a:prstGeom prst="rect">
            <a:avLst/>
          </a:prstGeom>
        </p:spPr>
      </p:pic>
      <p:sp>
        <p:nvSpPr>
          <p:cNvPr id="6" name="TextBox 5"/>
          <p:cNvSpPr txBox="1"/>
          <p:nvPr/>
        </p:nvSpPr>
        <p:spPr>
          <a:xfrm>
            <a:off x="548640" y="6400800"/>
            <a:ext cx="10972800" cy="365760"/>
          </a:xfrm>
          <a:prstGeom prst="rect">
            <a:avLst/>
          </a:prstGeom>
          <a:noFill/>
        </p:spPr>
        <p:txBody>
          <a:bodyPr wrap="square" anchor="t" lIns="0" rIns="0" tIns="0" bIns="0">
            <a:spAutoFit/>
          </a:bodyPr>
          <a:lstStyle/>
          <a:p>
            <a:pPr algn="l"/>
            <a:r>
              <a:rPr sz="1100" b="0">
                <a:solidFill>
                  <a:srgbClr val="4A5460"/>
                </a:solidFill>
                <a:latin typeface="Calibri"/>
              </a:rPr>
              <a:t>Surgery, Therapy, Medication, and Observation all average within $30 of each other. Cost structure looks uniform, not skill-tiered.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3657600" cy="365760"/>
          </a:xfrm>
          <a:prstGeom prst="rect">
            <a:avLst/>
          </a:prstGeom>
          <a:noFill/>
        </p:spPr>
        <p:txBody>
          <a:bodyPr wrap="square" anchor="t" lIns="0" rIns="0" tIns="0" bIns="0">
            <a:spAutoFit/>
          </a:bodyPr>
          <a:lstStyle/>
          <a:p>
            <a:pPr algn="l"/>
            <a:r>
              <a:rPr sz="1100" b="1">
                <a:solidFill>
                  <a:srgbClr val="D9603F"/>
                </a:solidFill>
                <a:latin typeface="Calibri"/>
              </a:rPr>
              <a:t>09 · Monthly pattern</a:t>
            </a:r>
          </a:p>
        </p:txBody>
      </p:sp>
      <p:sp>
        <p:nvSpPr>
          <p:cNvPr id="4" name="TextBox 3"/>
          <p:cNvSpPr txBox="1"/>
          <p:nvPr/>
        </p:nvSpPr>
        <p:spPr>
          <a:xfrm>
            <a:off x="548640" y="731520"/>
            <a:ext cx="10058400" cy="548640"/>
          </a:xfrm>
          <a:prstGeom prst="rect">
            <a:avLst/>
          </a:prstGeom>
          <a:noFill/>
        </p:spPr>
        <p:txBody>
          <a:bodyPr wrap="square" anchor="t" lIns="0" rIns="0" tIns="0" bIns="0">
            <a:spAutoFit/>
          </a:bodyPr>
          <a:lstStyle/>
          <a:p>
            <a:pPr algn="l"/>
            <a:r>
              <a:rPr sz="2400" b="1">
                <a:solidFill>
                  <a:srgbClr val="1A2530"/>
                </a:solidFill>
                <a:latin typeface="Georgia"/>
              </a:rPr>
              <a:t>No clear seasonality in visits or revenue</a:t>
            </a:r>
          </a:p>
        </p:txBody>
      </p:sp>
      <p:pic>
        <p:nvPicPr>
          <p:cNvPr id="5" name="Picture 4" descr="06-monthly-visits.jpg"/>
          <p:cNvPicPr>
            <a:picLocks noChangeAspect="1"/>
          </p:cNvPicPr>
          <p:nvPr/>
        </p:nvPicPr>
        <p:blipFill>
          <a:blip r:embed="rId2"/>
          <a:stretch>
            <a:fillRect/>
          </a:stretch>
        </p:blipFill>
        <p:spPr>
          <a:xfrm>
            <a:off x="548640" y="1463040"/>
            <a:ext cx="11064240" cy="5032807"/>
          </a:xfrm>
          <a:prstGeom prst="rect">
            <a:avLst/>
          </a:prstGeom>
        </p:spPr>
      </p:pic>
      <p:sp>
        <p:nvSpPr>
          <p:cNvPr id="6" name="TextBox 5"/>
          <p:cNvSpPr txBox="1"/>
          <p:nvPr/>
        </p:nvSpPr>
        <p:spPr>
          <a:xfrm>
            <a:off x="548640" y="6400800"/>
            <a:ext cx="10972800" cy="365760"/>
          </a:xfrm>
          <a:prstGeom prst="rect">
            <a:avLst/>
          </a:prstGeom>
          <a:noFill/>
        </p:spPr>
        <p:txBody>
          <a:bodyPr wrap="square" anchor="t" lIns="0" rIns="0" tIns="0" bIns="0">
            <a:spAutoFit/>
          </a:bodyPr>
          <a:lstStyle/>
          <a:p>
            <a:pPr algn="l"/>
            <a:r>
              <a:rPr sz="1100" b="0">
                <a:solidFill>
                  <a:srgbClr val="4A5460"/>
                </a:solidFill>
                <a:latin typeface="Calibri"/>
              </a:rPr>
              <a:t>Monthly visits hover within 10 percent of the 9,192 monthly average. Capacity planning can run on a flat baseline.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3657600" cy="365760"/>
          </a:xfrm>
          <a:prstGeom prst="rect">
            <a:avLst/>
          </a:prstGeom>
          <a:noFill/>
        </p:spPr>
        <p:txBody>
          <a:bodyPr wrap="square" anchor="t" lIns="0" rIns="0" tIns="0" bIns="0">
            <a:spAutoFit/>
          </a:bodyPr>
          <a:lstStyle/>
          <a:p>
            <a:pPr algn="l"/>
            <a:r>
              <a:rPr sz="1100" b="1">
                <a:solidFill>
                  <a:srgbClr val="D9603F"/>
                </a:solidFill>
                <a:latin typeface="Calibri"/>
              </a:rPr>
              <a:t>10 · Key insights</a:t>
            </a:r>
          </a:p>
        </p:txBody>
      </p:sp>
      <p:sp>
        <p:nvSpPr>
          <p:cNvPr id="4" name="TextBox 3"/>
          <p:cNvSpPr txBox="1"/>
          <p:nvPr/>
        </p:nvSpPr>
        <p:spPr>
          <a:xfrm>
            <a:off x="548640" y="914400"/>
            <a:ext cx="10058400" cy="731520"/>
          </a:xfrm>
          <a:prstGeom prst="rect">
            <a:avLst/>
          </a:prstGeom>
          <a:noFill/>
        </p:spPr>
        <p:txBody>
          <a:bodyPr wrap="square" anchor="t" lIns="0" rIns="0" tIns="0" bIns="0">
            <a:spAutoFit/>
          </a:bodyPr>
          <a:lstStyle/>
          <a:p>
            <a:pPr algn="l"/>
            <a:r>
              <a:rPr sz="3200" b="1">
                <a:solidFill>
                  <a:srgbClr val="1A2530"/>
                </a:solidFill>
                <a:latin typeface="Georgia"/>
              </a:rPr>
              <a:t>What the numbers say</a:t>
            </a:r>
          </a:p>
        </p:txBody>
      </p:sp>
      <p:sp>
        <p:nvSpPr>
          <p:cNvPr id="5" name="TextBox 4"/>
          <p:cNvSpPr txBox="1"/>
          <p:nvPr/>
        </p:nvSpPr>
        <p:spPr>
          <a:xfrm>
            <a:off x="548640" y="2194560"/>
            <a:ext cx="457200" cy="457200"/>
          </a:xfrm>
          <a:prstGeom prst="rect">
            <a:avLst/>
          </a:prstGeom>
          <a:noFill/>
        </p:spPr>
        <p:txBody>
          <a:bodyPr wrap="square" anchor="t" lIns="0" rIns="0" tIns="0" bIns="0">
            <a:spAutoFit/>
          </a:bodyPr>
          <a:lstStyle/>
          <a:p>
            <a:pPr algn="l"/>
            <a:r>
              <a:rPr sz="1800" b="1">
                <a:solidFill>
                  <a:srgbClr val="D9603F"/>
                </a:solidFill>
                <a:latin typeface="Georgia"/>
              </a:rPr>
              <a:t>01</a:t>
            </a:r>
          </a:p>
        </p:txBody>
      </p:sp>
      <p:sp>
        <p:nvSpPr>
          <p:cNvPr id="6" name="TextBox 5"/>
          <p:cNvSpPr txBox="1"/>
          <p:nvPr/>
        </p:nvSpPr>
        <p:spPr>
          <a:xfrm>
            <a:off x="1097280" y="2194560"/>
            <a:ext cx="10515600" cy="411480"/>
          </a:xfrm>
          <a:prstGeom prst="rect">
            <a:avLst/>
          </a:prstGeom>
          <a:noFill/>
        </p:spPr>
        <p:txBody>
          <a:bodyPr wrap="square" anchor="t" lIns="0" rIns="0" tIns="0" bIns="0">
            <a:spAutoFit/>
          </a:bodyPr>
          <a:lstStyle/>
          <a:p>
            <a:pPr algn="l"/>
            <a:r>
              <a:rPr sz="1500" b="1">
                <a:solidFill>
                  <a:srgbClr val="1A2530"/>
                </a:solidFill>
                <a:latin typeface="Calibri"/>
              </a:rPr>
              <a:t>Cost spreads almost evenly across named diagnoses</a:t>
            </a:r>
          </a:p>
        </p:txBody>
      </p:sp>
      <p:sp>
        <p:nvSpPr>
          <p:cNvPr id="7" name="TextBox 6"/>
          <p:cNvSpPr txBox="1"/>
          <p:nvPr/>
        </p:nvSpPr>
        <p:spPr>
          <a:xfrm>
            <a:off x="1097280" y="2606040"/>
            <a:ext cx="10515600" cy="457200"/>
          </a:xfrm>
          <a:prstGeom prst="rect">
            <a:avLst/>
          </a:prstGeom>
          <a:noFill/>
        </p:spPr>
        <p:txBody>
          <a:bodyPr wrap="square" anchor="t" lIns="0" rIns="0" tIns="0" bIns="0">
            <a:spAutoFit/>
          </a:bodyPr>
          <a:lstStyle/>
          <a:p>
            <a:pPr algn="l"/>
            <a:r>
              <a:rPr sz="1100" b="0">
                <a:solidFill>
                  <a:srgbClr val="4A5460"/>
                </a:solidFill>
                <a:latin typeface="Calibri"/>
              </a:rPr>
              <a:t>Six of seven diagnoses cluster in a $36M to $37M band. Resource planning does not need to favour one disease group.</a:t>
            </a:r>
          </a:p>
        </p:txBody>
      </p:sp>
      <p:sp>
        <p:nvSpPr>
          <p:cNvPr id="8" name="TextBox 7"/>
          <p:cNvSpPr txBox="1"/>
          <p:nvPr/>
        </p:nvSpPr>
        <p:spPr>
          <a:xfrm>
            <a:off x="548640" y="3063240"/>
            <a:ext cx="457200" cy="457200"/>
          </a:xfrm>
          <a:prstGeom prst="rect">
            <a:avLst/>
          </a:prstGeom>
          <a:noFill/>
        </p:spPr>
        <p:txBody>
          <a:bodyPr wrap="square" anchor="t" lIns="0" rIns="0" tIns="0" bIns="0">
            <a:spAutoFit/>
          </a:bodyPr>
          <a:lstStyle/>
          <a:p>
            <a:pPr algn="l"/>
            <a:r>
              <a:rPr sz="1800" b="1">
                <a:solidFill>
                  <a:srgbClr val="D9603F"/>
                </a:solidFill>
                <a:latin typeface="Georgia"/>
              </a:rPr>
              <a:t>02</a:t>
            </a:r>
          </a:p>
        </p:txBody>
      </p:sp>
      <p:sp>
        <p:nvSpPr>
          <p:cNvPr id="9" name="TextBox 8"/>
          <p:cNvSpPr txBox="1"/>
          <p:nvPr/>
        </p:nvSpPr>
        <p:spPr>
          <a:xfrm>
            <a:off x="1097280" y="3063240"/>
            <a:ext cx="10515600" cy="411480"/>
          </a:xfrm>
          <a:prstGeom prst="rect">
            <a:avLst/>
          </a:prstGeom>
          <a:noFill/>
        </p:spPr>
        <p:txBody>
          <a:bodyPr wrap="square" anchor="t" lIns="0" rIns="0" tIns="0" bIns="0">
            <a:spAutoFit/>
          </a:bodyPr>
          <a:lstStyle/>
          <a:p>
            <a:pPr algn="l"/>
            <a:r>
              <a:rPr sz="1500" b="1">
                <a:solidFill>
                  <a:srgbClr val="1A2530"/>
                </a:solidFill>
                <a:latin typeface="Calibri"/>
              </a:rPr>
              <a:t>Unknown diagnosis is the largest data quality gap</a:t>
            </a:r>
          </a:p>
        </p:txBody>
      </p:sp>
      <p:sp>
        <p:nvSpPr>
          <p:cNvPr id="10" name="TextBox 9"/>
          <p:cNvSpPr txBox="1"/>
          <p:nvPr/>
        </p:nvSpPr>
        <p:spPr>
          <a:xfrm>
            <a:off x="1097280" y="3474720"/>
            <a:ext cx="10515600" cy="457200"/>
          </a:xfrm>
          <a:prstGeom prst="rect">
            <a:avLst/>
          </a:prstGeom>
          <a:noFill/>
        </p:spPr>
        <p:txBody>
          <a:bodyPr wrap="square" anchor="t" lIns="0" rIns="0" tIns="0" bIns="0">
            <a:spAutoFit/>
          </a:bodyPr>
          <a:lstStyle/>
          <a:p>
            <a:pPr algn="l"/>
            <a:r>
              <a:rPr sz="1100" b="0">
                <a:solidFill>
                  <a:srgbClr val="4A5460"/>
                </a:solidFill>
                <a:latin typeface="Calibri"/>
              </a:rPr>
              <a:t>$19.7M of cost sits against unlabelled diagnoses. Fixing intake categorization unlocks visibility into roughly 7 percent of the book.</a:t>
            </a:r>
          </a:p>
        </p:txBody>
      </p:sp>
      <p:sp>
        <p:nvSpPr>
          <p:cNvPr id="11" name="TextBox 10"/>
          <p:cNvSpPr txBox="1"/>
          <p:nvPr/>
        </p:nvSpPr>
        <p:spPr>
          <a:xfrm>
            <a:off x="548640" y="3931920"/>
            <a:ext cx="457200" cy="457200"/>
          </a:xfrm>
          <a:prstGeom prst="rect">
            <a:avLst/>
          </a:prstGeom>
          <a:noFill/>
        </p:spPr>
        <p:txBody>
          <a:bodyPr wrap="square" anchor="t" lIns="0" rIns="0" tIns="0" bIns="0">
            <a:spAutoFit/>
          </a:bodyPr>
          <a:lstStyle/>
          <a:p>
            <a:pPr algn="l"/>
            <a:r>
              <a:rPr sz="1800" b="1">
                <a:solidFill>
                  <a:srgbClr val="D9603F"/>
                </a:solidFill>
                <a:latin typeface="Georgia"/>
              </a:rPr>
              <a:t>03</a:t>
            </a:r>
          </a:p>
        </p:txBody>
      </p:sp>
      <p:sp>
        <p:nvSpPr>
          <p:cNvPr id="12" name="TextBox 11"/>
          <p:cNvSpPr txBox="1"/>
          <p:nvPr/>
        </p:nvSpPr>
        <p:spPr>
          <a:xfrm>
            <a:off x="1097280" y="3931920"/>
            <a:ext cx="10515600" cy="411480"/>
          </a:xfrm>
          <a:prstGeom prst="rect">
            <a:avLst/>
          </a:prstGeom>
          <a:noFill/>
        </p:spPr>
        <p:txBody>
          <a:bodyPr wrap="square" anchor="t" lIns="0" rIns="0" tIns="0" bIns="0">
            <a:spAutoFit/>
          </a:bodyPr>
          <a:lstStyle/>
          <a:p>
            <a:pPr algn="l"/>
            <a:r>
              <a:rPr sz="1500" b="1">
                <a:solidFill>
                  <a:srgbClr val="1A2530"/>
                </a:solidFill>
                <a:latin typeface="Calibri"/>
              </a:rPr>
              <a:t>Doctor workload is balanced, with one anomaly</a:t>
            </a:r>
          </a:p>
        </p:txBody>
      </p:sp>
      <p:sp>
        <p:nvSpPr>
          <p:cNvPr id="13" name="TextBox 12"/>
          <p:cNvSpPr txBox="1"/>
          <p:nvPr/>
        </p:nvSpPr>
        <p:spPr>
          <a:xfrm>
            <a:off x="1097280" y="4343400"/>
            <a:ext cx="10515600" cy="457200"/>
          </a:xfrm>
          <a:prstGeom prst="rect">
            <a:avLst/>
          </a:prstGeom>
          <a:noFill/>
        </p:spPr>
        <p:txBody>
          <a:bodyPr wrap="square" anchor="t" lIns="0" rIns="0" tIns="0" bIns="0">
            <a:spAutoFit/>
          </a:bodyPr>
          <a:lstStyle/>
          <a:p>
            <a:pPr algn="l"/>
            <a:r>
              <a:rPr sz="1100" b="0">
                <a:solidFill>
                  <a:srgbClr val="4A5460"/>
                </a:solidFill>
                <a:latin typeface="Calibri"/>
              </a:rPr>
              <a:t>Five named doctors carry near-equal revenue. The Unassigned bucket holds $8.3M that needs attribution to a real provider.</a:t>
            </a:r>
          </a:p>
        </p:txBody>
      </p:sp>
      <p:sp>
        <p:nvSpPr>
          <p:cNvPr id="14" name="TextBox 13"/>
          <p:cNvSpPr txBox="1"/>
          <p:nvPr/>
        </p:nvSpPr>
        <p:spPr>
          <a:xfrm>
            <a:off x="548640" y="4800600"/>
            <a:ext cx="457200" cy="457200"/>
          </a:xfrm>
          <a:prstGeom prst="rect">
            <a:avLst/>
          </a:prstGeom>
          <a:noFill/>
        </p:spPr>
        <p:txBody>
          <a:bodyPr wrap="square" anchor="t" lIns="0" rIns="0" tIns="0" bIns="0">
            <a:spAutoFit/>
          </a:bodyPr>
          <a:lstStyle/>
          <a:p>
            <a:pPr algn="l"/>
            <a:r>
              <a:rPr sz="1800" b="1">
                <a:solidFill>
                  <a:srgbClr val="D9603F"/>
                </a:solidFill>
                <a:latin typeface="Georgia"/>
              </a:rPr>
              <a:t>04</a:t>
            </a:r>
          </a:p>
        </p:txBody>
      </p:sp>
      <p:sp>
        <p:nvSpPr>
          <p:cNvPr id="15" name="TextBox 14"/>
          <p:cNvSpPr txBox="1"/>
          <p:nvPr/>
        </p:nvSpPr>
        <p:spPr>
          <a:xfrm>
            <a:off x="1097280" y="4800600"/>
            <a:ext cx="10515600" cy="411480"/>
          </a:xfrm>
          <a:prstGeom prst="rect">
            <a:avLst/>
          </a:prstGeom>
          <a:noFill/>
        </p:spPr>
        <p:txBody>
          <a:bodyPr wrap="square" anchor="t" lIns="0" rIns="0" tIns="0" bIns="0">
            <a:spAutoFit/>
          </a:bodyPr>
          <a:lstStyle/>
          <a:p>
            <a:pPr algn="l"/>
            <a:r>
              <a:rPr sz="1500" b="1">
                <a:solidFill>
                  <a:srgbClr val="1A2530"/>
                </a:solidFill>
                <a:latin typeface="Calibri"/>
              </a:rPr>
              <a:t>The 70+ group is the largest patient cohort</a:t>
            </a:r>
          </a:p>
        </p:txBody>
      </p:sp>
      <p:sp>
        <p:nvSpPr>
          <p:cNvPr id="16" name="TextBox 15"/>
          <p:cNvSpPr txBox="1"/>
          <p:nvPr/>
        </p:nvSpPr>
        <p:spPr>
          <a:xfrm>
            <a:off x="1097280" y="5212080"/>
            <a:ext cx="10515600" cy="457200"/>
          </a:xfrm>
          <a:prstGeom prst="rect">
            <a:avLst/>
          </a:prstGeom>
          <a:noFill/>
        </p:spPr>
        <p:txBody>
          <a:bodyPr wrap="square" anchor="t" lIns="0" rIns="0" tIns="0" bIns="0">
            <a:spAutoFit/>
          </a:bodyPr>
          <a:lstStyle/>
          <a:p>
            <a:pPr algn="l"/>
            <a:r>
              <a:rPr sz="1100" b="0">
                <a:solidFill>
                  <a:srgbClr val="4A5460"/>
                </a:solidFill>
                <a:latin typeface="Calibri"/>
              </a:rPr>
              <a:t>33,206 visits, the highest of any age bracket. Service capacity planning should anchor on this group.</a:t>
            </a:r>
          </a:p>
        </p:txBody>
      </p:sp>
      <p:sp>
        <p:nvSpPr>
          <p:cNvPr id="17" name="TextBox 16"/>
          <p:cNvSpPr txBox="1"/>
          <p:nvPr/>
        </p:nvSpPr>
        <p:spPr>
          <a:xfrm>
            <a:off x="548640" y="5669280"/>
            <a:ext cx="457200" cy="457200"/>
          </a:xfrm>
          <a:prstGeom prst="rect">
            <a:avLst/>
          </a:prstGeom>
          <a:noFill/>
        </p:spPr>
        <p:txBody>
          <a:bodyPr wrap="square" anchor="t" lIns="0" rIns="0" tIns="0" bIns="0">
            <a:spAutoFit/>
          </a:bodyPr>
          <a:lstStyle/>
          <a:p>
            <a:pPr algn="l"/>
            <a:r>
              <a:rPr sz="1800" b="1">
                <a:solidFill>
                  <a:srgbClr val="D9603F"/>
                </a:solidFill>
                <a:latin typeface="Georgia"/>
              </a:rPr>
              <a:t>05</a:t>
            </a:r>
          </a:p>
        </p:txBody>
      </p:sp>
      <p:sp>
        <p:nvSpPr>
          <p:cNvPr id="18" name="TextBox 17"/>
          <p:cNvSpPr txBox="1"/>
          <p:nvPr/>
        </p:nvSpPr>
        <p:spPr>
          <a:xfrm>
            <a:off x="1097280" y="5669280"/>
            <a:ext cx="10515600" cy="411480"/>
          </a:xfrm>
          <a:prstGeom prst="rect">
            <a:avLst/>
          </a:prstGeom>
          <a:noFill/>
        </p:spPr>
        <p:txBody>
          <a:bodyPr wrap="square" anchor="t" lIns="0" rIns="0" tIns="0" bIns="0">
            <a:spAutoFit/>
          </a:bodyPr>
          <a:lstStyle/>
          <a:p>
            <a:pPr algn="l"/>
            <a:r>
              <a:rPr sz="1500" b="1">
                <a:solidFill>
                  <a:srgbClr val="1A2530"/>
                </a:solidFill>
                <a:latin typeface="Calibri"/>
              </a:rPr>
              <a:t>Treatment type does not predict cost</a:t>
            </a:r>
          </a:p>
        </p:txBody>
      </p:sp>
      <p:sp>
        <p:nvSpPr>
          <p:cNvPr id="19" name="TextBox 18"/>
          <p:cNvSpPr txBox="1"/>
          <p:nvPr/>
        </p:nvSpPr>
        <p:spPr>
          <a:xfrm>
            <a:off x="1097280" y="6080760"/>
            <a:ext cx="10515600" cy="457200"/>
          </a:xfrm>
          <a:prstGeom prst="rect">
            <a:avLst/>
          </a:prstGeom>
          <a:noFill/>
        </p:spPr>
        <p:txBody>
          <a:bodyPr wrap="square" anchor="t" lIns="0" rIns="0" tIns="0" bIns="0">
            <a:spAutoFit/>
          </a:bodyPr>
          <a:lstStyle/>
          <a:p>
            <a:pPr algn="l"/>
            <a:r>
              <a:rPr sz="1100" b="0">
                <a:solidFill>
                  <a:srgbClr val="4A5460"/>
                </a:solidFill>
                <a:latin typeface="Calibri"/>
              </a:rPr>
              <a:t>Surgery and observation average within $30 of each other per visit. Cost variance lives elsewhere, likely in volume and case complexity.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3657600" cy="365760"/>
          </a:xfrm>
          <a:prstGeom prst="rect">
            <a:avLst/>
          </a:prstGeom>
          <a:noFill/>
        </p:spPr>
        <p:txBody>
          <a:bodyPr wrap="square" anchor="t" lIns="0" rIns="0" tIns="0" bIns="0">
            <a:spAutoFit/>
          </a:bodyPr>
          <a:lstStyle/>
          <a:p>
            <a:pPr algn="l"/>
            <a:r>
              <a:rPr sz="1100" b="1">
                <a:solidFill>
                  <a:srgbClr val="D9603F"/>
                </a:solidFill>
                <a:latin typeface="Calibri"/>
              </a:rPr>
              <a:t>11 · Recommendations</a:t>
            </a:r>
          </a:p>
        </p:txBody>
      </p:sp>
      <p:sp>
        <p:nvSpPr>
          <p:cNvPr id="4" name="TextBox 3"/>
          <p:cNvSpPr txBox="1"/>
          <p:nvPr/>
        </p:nvSpPr>
        <p:spPr>
          <a:xfrm>
            <a:off x="548640" y="914400"/>
            <a:ext cx="10058400" cy="731520"/>
          </a:xfrm>
          <a:prstGeom prst="rect">
            <a:avLst/>
          </a:prstGeom>
          <a:noFill/>
        </p:spPr>
        <p:txBody>
          <a:bodyPr wrap="square" anchor="t" lIns="0" rIns="0" tIns="0" bIns="0">
            <a:spAutoFit/>
          </a:bodyPr>
          <a:lstStyle/>
          <a:p>
            <a:pPr algn="l"/>
            <a:r>
              <a:rPr sz="3200" b="1">
                <a:solidFill>
                  <a:srgbClr val="1A2530"/>
                </a:solidFill>
                <a:latin typeface="Georgia"/>
              </a:rPr>
              <a:t>What to do next</a:t>
            </a:r>
          </a:p>
        </p:txBody>
      </p:sp>
      <p:sp>
        <p:nvSpPr>
          <p:cNvPr id="5" name="TextBox 4"/>
          <p:cNvSpPr txBox="1"/>
          <p:nvPr/>
        </p:nvSpPr>
        <p:spPr>
          <a:xfrm>
            <a:off x="548640" y="2194560"/>
            <a:ext cx="457200" cy="457200"/>
          </a:xfrm>
          <a:prstGeom prst="rect">
            <a:avLst/>
          </a:prstGeom>
          <a:noFill/>
        </p:spPr>
        <p:txBody>
          <a:bodyPr wrap="square" anchor="t" lIns="0" rIns="0" tIns="0" bIns="0">
            <a:spAutoFit/>
          </a:bodyPr>
          <a:lstStyle/>
          <a:p>
            <a:pPr algn="l"/>
            <a:r>
              <a:rPr sz="1800" b="1">
                <a:solidFill>
                  <a:srgbClr val="D9603F"/>
                </a:solidFill>
                <a:latin typeface="Georgia"/>
              </a:rPr>
              <a:t>01</a:t>
            </a:r>
          </a:p>
        </p:txBody>
      </p:sp>
      <p:sp>
        <p:nvSpPr>
          <p:cNvPr id="6" name="TextBox 5"/>
          <p:cNvSpPr txBox="1"/>
          <p:nvPr/>
        </p:nvSpPr>
        <p:spPr>
          <a:xfrm>
            <a:off x="1097280" y="2194560"/>
            <a:ext cx="8686800" cy="411480"/>
          </a:xfrm>
          <a:prstGeom prst="rect">
            <a:avLst/>
          </a:prstGeom>
          <a:noFill/>
        </p:spPr>
        <p:txBody>
          <a:bodyPr wrap="square" anchor="t" lIns="0" rIns="0" tIns="0" bIns="0">
            <a:spAutoFit/>
          </a:bodyPr>
          <a:lstStyle/>
          <a:p>
            <a:pPr algn="l"/>
            <a:r>
              <a:rPr sz="1500" b="1">
                <a:solidFill>
                  <a:srgbClr val="1A2530"/>
                </a:solidFill>
                <a:latin typeface="Calibri"/>
              </a:rPr>
              <a:t>Fix the intake categorization process</a:t>
            </a:r>
          </a:p>
        </p:txBody>
      </p:sp>
      <p:sp>
        <p:nvSpPr>
          <p:cNvPr id="7" name="TextBox 6"/>
          <p:cNvSpPr txBox="1"/>
          <p:nvPr/>
        </p:nvSpPr>
        <p:spPr>
          <a:xfrm>
            <a:off x="1097280" y="2606040"/>
            <a:ext cx="8686800" cy="457200"/>
          </a:xfrm>
          <a:prstGeom prst="rect">
            <a:avLst/>
          </a:prstGeom>
          <a:noFill/>
        </p:spPr>
        <p:txBody>
          <a:bodyPr wrap="square" anchor="t" lIns="0" rIns="0" tIns="0" bIns="0">
            <a:spAutoFit/>
          </a:bodyPr>
          <a:lstStyle/>
          <a:p>
            <a:pPr algn="l"/>
            <a:r>
              <a:rPr sz="1100" b="0">
                <a:solidFill>
                  <a:srgbClr val="4A5460"/>
                </a:solidFill>
                <a:latin typeface="Calibri"/>
              </a:rPr>
              <a:t>Unknown diagnoses are $19.7M of invisible spend. A required-field rule at intake closes the gap.</a:t>
            </a:r>
          </a:p>
        </p:txBody>
      </p:sp>
      <p:sp>
        <p:nvSpPr>
          <p:cNvPr id="8" name="Rectangle 7"/>
          <p:cNvSpPr/>
          <p:nvPr/>
        </p:nvSpPr>
        <p:spPr>
          <a:xfrm>
            <a:off x="10058400" y="2286000"/>
            <a:ext cx="1371600" cy="365760"/>
          </a:xfrm>
          <a:prstGeom prst="rect">
            <a:avLst/>
          </a:prstGeom>
          <a:solidFill>
            <a:srgbClr val="D960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2313432"/>
            <a:ext cx="1371600" cy="365760"/>
          </a:xfrm>
          <a:prstGeom prst="rect">
            <a:avLst/>
          </a:prstGeom>
          <a:noFill/>
        </p:spPr>
        <p:txBody>
          <a:bodyPr wrap="square" anchor="t" lIns="0" rIns="0" tIns="0" bIns="0">
            <a:spAutoFit/>
          </a:bodyPr>
          <a:lstStyle/>
          <a:p>
            <a:pPr algn="ctr"/>
            <a:r>
              <a:rPr sz="1000" b="1">
                <a:solidFill>
                  <a:srgbClr val="FFFFFF"/>
                </a:solidFill>
                <a:latin typeface="Calibri"/>
              </a:rPr>
              <a:t>High</a:t>
            </a:r>
          </a:p>
        </p:txBody>
      </p:sp>
      <p:sp>
        <p:nvSpPr>
          <p:cNvPr id="10" name="TextBox 9"/>
          <p:cNvSpPr txBox="1"/>
          <p:nvPr/>
        </p:nvSpPr>
        <p:spPr>
          <a:xfrm>
            <a:off x="548640" y="3063240"/>
            <a:ext cx="457200" cy="457200"/>
          </a:xfrm>
          <a:prstGeom prst="rect">
            <a:avLst/>
          </a:prstGeom>
          <a:noFill/>
        </p:spPr>
        <p:txBody>
          <a:bodyPr wrap="square" anchor="t" lIns="0" rIns="0" tIns="0" bIns="0">
            <a:spAutoFit/>
          </a:bodyPr>
          <a:lstStyle/>
          <a:p>
            <a:pPr algn="l"/>
            <a:r>
              <a:rPr sz="1800" b="1">
                <a:solidFill>
                  <a:srgbClr val="D9603F"/>
                </a:solidFill>
                <a:latin typeface="Georgia"/>
              </a:rPr>
              <a:t>02</a:t>
            </a:r>
          </a:p>
        </p:txBody>
      </p:sp>
      <p:sp>
        <p:nvSpPr>
          <p:cNvPr id="11" name="TextBox 10"/>
          <p:cNvSpPr txBox="1"/>
          <p:nvPr/>
        </p:nvSpPr>
        <p:spPr>
          <a:xfrm>
            <a:off x="1097280" y="3063240"/>
            <a:ext cx="8686800" cy="411480"/>
          </a:xfrm>
          <a:prstGeom prst="rect">
            <a:avLst/>
          </a:prstGeom>
          <a:noFill/>
        </p:spPr>
        <p:txBody>
          <a:bodyPr wrap="square" anchor="t" lIns="0" rIns="0" tIns="0" bIns="0">
            <a:spAutoFit/>
          </a:bodyPr>
          <a:lstStyle/>
          <a:p>
            <a:pPr algn="l"/>
            <a:r>
              <a:rPr sz="1500" b="1">
                <a:solidFill>
                  <a:srgbClr val="1A2530"/>
                </a:solidFill>
                <a:latin typeface="Calibri"/>
              </a:rPr>
              <a:t>Resolve the Unassigned doctor records</a:t>
            </a:r>
          </a:p>
        </p:txBody>
      </p:sp>
      <p:sp>
        <p:nvSpPr>
          <p:cNvPr id="12" name="TextBox 11"/>
          <p:cNvSpPr txBox="1"/>
          <p:nvPr/>
        </p:nvSpPr>
        <p:spPr>
          <a:xfrm>
            <a:off x="1097280" y="3474720"/>
            <a:ext cx="8686800" cy="457200"/>
          </a:xfrm>
          <a:prstGeom prst="rect">
            <a:avLst/>
          </a:prstGeom>
          <a:noFill/>
        </p:spPr>
        <p:txBody>
          <a:bodyPr wrap="square" anchor="t" lIns="0" rIns="0" tIns="0" bIns="0">
            <a:spAutoFit/>
          </a:bodyPr>
          <a:lstStyle/>
          <a:p>
            <a:pPr algn="l"/>
            <a:r>
              <a:rPr sz="1100" b="0">
                <a:solidFill>
                  <a:srgbClr val="4A5460"/>
                </a:solidFill>
                <a:latin typeface="Calibri"/>
              </a:rPr>
              <a:t>Audit the 3,289 visits with no doctor. Reassign or archive to remove the $8.3M attribution gap.</a:t>
            </a:r>
          </a:p>
        </p:txBody>
      </p:sp>
      <p:sp>
        <p:nvSpPr>
          <p:cNvPr id="13" name="Rectangle 12"/>
          <p:cNvSpPr/>
          <p:nvPr/>
        </p:nvSpPr>
        <p:spPr>
          <a:xfrm>
            <a:off x="10058400" y="3154680"/>
            <a:ext cx="1371600" cy="365760"/>
          </a:xfrm>
          <a:prstGeom prst="rect">
            <a:avLst/>
          </a:prstGeom>
          <a:solidFill>
            <a:srgbClr val="D960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0" y="3182112"/>
            <a:ext cx="1371600" cy="365760"/>
          </a:xfrm>
          <a:prstGeom prst="rect">
            <a:avLst/>
          </a:prstGeom>
          <a:noFill/>
        </p:spPr>
        <p:txBody>
          <a:bodyPr wrap="square" anchor="t" lIns="0" rIns="0" tIns="0" bIns="0">
            <a:spAutoFit/>
          </a:bodyPr>
          <a:lstStyle/>
          <a:p>
            <a:pPr algn="ctr"/>
            <a:r>
              <a:rPr sz="1000" b="1">
                <a:solidFill>
                  <a:srgbClr val="FFFFFF"/>
                </a:solidFill>
                <a:latin typeface="Calibri"/>
              </a:rPr>
              <a:t>High</a:t>
            </a:r>
          </a:p>
        </p:txBody>
      </p:sp>
      <p:sp>
        <p:nvSpPr>
          <p:cNvPr id="15" name="TextBox 14"/>
          <p:cNvSpPr txBox="1"/>
          <p:nvPr/>
        </p:nvSpPr>
        <p:spPr>
          <a:xfrm>
            <a:off x="548640" y="3931920"/>
            <a:ext cx="457200" cy="457200"/>
          </a:xfrm>
          <a:prstGeom prst="rect">
            <a:avLst/>
          </a:prstGeom>
          <a:noFill/>
        </p:spPr>
        <p:txBody>
          <a:bodyPr wrap="square" anchor="t" lIns="0" rIns="0" tIns="0" bIns="0">
            <a:spAutoFit/>
          </a:bodyPr>
          <a:lstStyle/>
          <a:p>
            <a:pPr algn="l"/>
            <a:r>
              <a:rPr sz="1800" b="1">
                <a:solidFill>
                  <a:srgbClr val="D9603F"/>
                </a:solidFill>
                <a:latin typeface="Georgia"/>
              </a:rPr>
              <a:t>03</a:t>
            </a:r>
          </a:p>
        </p:txBody>
      </p:sp>
      <p:sp>
        <p:nvSpPr>
          <p:cNvPr id="16" name="TextBox 15"/>
          <p:cNvSpPr txBox="1"/>
          <p:nvPr/>
        </p:nvSpPr>
        <p:spPr>
          <a:xfrm>
            <a:off x="1097280" y="3931920"/>
            <a:ext cx="8686800" cy="411480"/>
          </a:xfrm>
          <a:prstGeom prst="rect">
            <a:avLst/>
          </a:prstGeom>
          <a:noFill/>
        </p:spPr>
        <p:txBody>
          <a:bodyPr wrap="square" anchor="t" lIns="0" rIns="0" tIns="0" bIns="0">
            <a:spAutoFit/>
          </a:bodyPr>
          <a:lstStyle/>
          <a:p>
            <a:pPr algn="l"/>
            <a:r>
              <a:rPr sz="1500" b="1">
                <a:solidFill>
                  <a:srgbClr val="1A2530"/>
                </a:solidFill>
                <a:latin typeface="Calibri"/>
              </a:rPr>
              <a:t>Move from monthly to weekly cost monitoring</a:t>
            </a:r>
          </a:p>
        </p:txBody>
      </p:sp>
      <p:sp>
        <p:nvSpPr>
          <p:cNvPr id="17" name="TextBox 16"/>
          <p:cNvSpPr txBox="1"/>
          <p:nvPr/>
        </p:nvSpPr>
        <p:spPr>
          <a:xfrm>
            <a:off x="1097280" y="4343400"/>
            <a:ext cx="8686800" cy="457200"/>
          </a:xfrm>
          <a:prstGeom prst="rect">
            <a:avLst/>
          </a:prstGeom>
          <a:noFill/>
        </p:spPr>
        <p:txBody>
          <a:bodyPr wrap="square" anchor="t" lIns="0" rIns="0" tIns="0" bIns="0">
            <a:spAutoFit/>
          </a:bodyPr>
          <a:lstStyle/>
          <a:p>
            <a:pPr algn="l"/>
            <a:r>
              <a:rPr sz="1100" b="0">
                <a:solidFill>
                  <a:srgbClr val="4A5460"/>
                </a:solidFill>
                <a:latin typeface="Calibri"/>
              </a:rPr>
              <a:t>Monthly variance is too coarse for early warnings. Weekly tracking surfaces shifts inside the cycle.</a:t>
            </a:r>
          </a:p>
        </p:txBody>
      </p:sp>
      <p:sp>
        <p:nvSpPr>
          <p:cNvPr id="18" name="Rectangle 17"/>
          <p:cNvSpPr/>
          <p:nvPr/>
        </p:nvSpPr>
        <p:spPr>
          <a:xfrm>
            <a:off x="10058400" y="4023360"/>
            <a:ext cx="1371600" cy="365760"/>
          </a:xfrm>
          <a:prstGeom prst="rect">
            <a:avLst/>
          </a:prstGeom>
          <a:solidFill>
            <a:srgbClr val="C2A0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0" y="4050792"/>
            <a:ext cx="1371600" cy="365760"/>
          </a:xfrm>
          <a:prstGeom prst="rect">
            <a:avLst/>
          </a:prstGeom>
          <a:noFill/>
        </p:spPr>
        <p:txBody>
          <a:bodyPr wrap="square" anchor="t" lIns="0" rIns="0" tIns="0" bIns="0">
            <a:spAutoFit/>
          </a:bodyPr>
          <a:lstStyle/>
          <a:p>
            <a:pPr algn="ctr"/>
            <a:r>
              <a:rPr sz="1000" b="1">
                <a:solidFill>
                  <a:srgbClr val="FFFFFF"/>
                </a:solidFill>
                <a:latin typeface="Calibri"/>
              </a:rPr>
              <a:t>Medium</a:t>
            </a:r>
          </a:p>
        </p:txBody>
      </p:sp>
      <p:sp>
        <p:nvSpPr>
          <p:cNvPr id="20" name="TextBox 19"/>
          <p:cNvSpPr txBox="1"/>
          <p:nvPr/>
        </p:nvSpPr>
        <p:spPr>
          <a:xfrm>
            <a:off x="548640" y="4800600"/>
            <a:ext cx="457200" cy="457200"/>
          </a:xfrm>
          <a:prstGeom prst="rect">
            <a:avLst/>
          </a:prstGeom>
          <a:noFill/>
        </p:spPr>
        <p:txBody>
          <a:bodyPr wrap="square" anchor="t" lIns="0" rIns="0" tIns="0" bIns="0">
            <a:spAutoFit/>
          </a:bodyPr>
          <a:lstStyle/>
          <a:p>
            <a:pPr algn="l"/>
            <a:r>
              <a:rPr sz="1800" b="1">
                <a:solidFill>
                  <a:srgbClr val="D9603F"/>
                </a:solidFill>
                <a:latin typeface="Georgia"/>
              </a:rPr>
              <a:t>04</a:t>
            </a:r>
          </a:p>
        </p:txBody>
      </p:sp>
      <p:sp>
        <p:nvSpPr>
          <p:cNvPr id="21" name="TextBox 20"/>
          <p:cNvSpPr txBox="1"/>
          <p:nvPr/>
        </p:nvSpPr>
        <p:spPr>
          <a:xfrm>
            <a:off x="1097280" y="4800600"/>
            <a:ext cx="8686800" cy="411480"/>
          </a:xfrm>
          <a:prstGeom prst="rect">
            <a:avLst/>
          </a:prstGeom>
          <a:noFill/>
        </p:spPr>
        <p:txBody>
          <a:bodyPr wrap="square" anchor="t" lIns="0" rIns="0" tIns="0" bIns="0">
            <a:spAutoFit/>
          </a:bodyPr>
          <a:lstStyle/>
          <a:p>
            <a:pPr algn="l"/>
            <a:r>
              <a:rPr sz="1500" b="1">
                <a:solidFill>
                  <a:srgbClr val="1A2530"/>
                </a:solidFill>
                <a:latin typeface="Calibri"/>
              </a:rPr>
              <a:t>Build a doctor-level utilization view</a:t>
            </a:r>
          </a:p>
        </p:txBody>
      </p:sp>
      <p:sp>
        <p:nvSpPr>
          <p:cNvPr id="22" name="TextBox 21"/>
          <p:cNvSpPr txBox="1"/>
          <p:nvPr/>
        </p:nvSpPr>
        <p:spPr>
          <a:xfrm>
            <a:off x="1097280" y="5212080"/>
            <a:ext cx="8686800" cy="457200"/>
          </a:xfrm>
          <a:prstGeom prst="rect">
            <a:avLst/>
          </a:prstGeom>
          <a:noFill/>
        </p:spPr>
        <p:txBody>
          <a:bodyPr wrap="square" anchor="t" lIns="0" rIns="0" tIns="0" bIns="0">
            <a:spAutoFit/>
          </a:bodyPr>
          <a:lstStyle/>
          <a:p>
            <a:pPr algn="l"/>
            <a:r>
              <a:rPr sz="1100" b="0">
                <a:solidFill>
                  <a:srgbClr val="4A5460"/>
                </a:solidFill>
                <a:latin typeface="Calibri"/>
              </a:rPr>
              <a:t>Balanced revenue does not mean balanced effort. Add hours, visit counts per shift, and patient outcomes.</a:t>
            </a:r>
          </a:p>
        </p:txBody>
      </p:sp>
      <p:sp>
        <p:nvSpPr>
          <p:cNvPr id="23" name="Rectangle 22"/>
          <p:cNvSpPr/>
          <p:nvPr/>
        </p:nvSpPr>
        <p:spPr>
          <a:xfrm>
            <a:off x="10058400" y="4892040"/>
            <a:ext cx="1371600" cy="365760"/>
          </a:xfrm>
          <a:prstGeom prst="rect">
            <a:avLst/>
          </a:prstGeom>
          <a:solidFill>
            <a:srgbClr val="C2A0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0" y="4919472"/>
            <a:ext cx="1371600" cy="365760"/>
          </a:xfrm>
          <a:prstGeom prst="rect">
            <a:avLst/>
          </a:prstGeom>
          <a:noFill/>
        </p:spPr>
        <p:txBody>
          <a:bodyPr wrap="square" anchor="t" lIns="0" rIns="0" tIns="0" bIns="0">
            <a:spAutoFit/>
          </a:bodyPr>
          <a:lstStyle/>
          <a:p>
            <a:pPr algn="ctr"/>
            <a:r>
              <a:rPr sz="1000" b="1">
                <a:solidFill>
                  <a:srgbClr val="FFFFFF"/>
                </a:solidFill>
                <a:latin typeface="Calibri"/>
              </a:rPr>
              <a:t>Medium</a:t>
            </a:r>
          </a:p>
        </p:txBody>
      </p:sp>
      <p:sp>
        <p:nvSpPr>
          <p:cNvPr id="25" name="TextBox 24"/>
          <p:cNvSpPr txBox="1"/>
          <p:nvPr/>
        </p:nvSpPr>
        <p:spPr>
          <a:xfrm>
            <a:off x="548640" y="5669280"/>
            <a:ext cx="457200" cy="457200"/>
          </a:xfrm>
          <a:prstGeom prst="rect">
            <a:avLst/>
          </a:prstGeom>
          <a:noFill/>
        </p:spPr>
        <p:txBody>
          <a:bodyPr wrap="square" anchor="t" lIns="0" rIns="0" tIns="0" bIns="0">
            <a:spAutoFit/>
          </a:bodyPr>
          <a:lstStyle/>
          <a:p>
            <a:pPr algn="l"/>
            <a:r>
              <a:rPr sz="1800" b="1">
                <a:solidFill>
                  <a:srgbClr val="D9603F"/>
                </a:solidFill>
                <a:latin typeface="Georgia"/>
              </a:rPr>
              <a:t>05</a:t>
            </a:r>
          </a:p>
        </p:txBody>
      </p:sp>
      <p:sp>
        <p:nvSpPr>
          <p:cNvPr id="26" name="TextBox 25"/>
          <p:cNvSpPr txBox="1"/>
          <p:nvPr/>
        </p:nvSpPr>
        <p:spPr>
          <a:xfrm>
            <a:off x="1097280" y="5669280"/>
            <a:ext cx="8686800" cy="411480"/>
          </a:xfrm>
          <a:prstGeom prst="rect">
            <a:avLst/>
          </a:prstGeom>
          <a:noFill/>
        </p:spPr>
        <p:txBody>
          <a:bodyPr wrap="square" anchor="t" lIns="0" rIns="0" tIns="0" bIns="0">
            <a:spAutoFit/>
          </a:bodyPr>
          <a:lstStyle/>
          <a:p>
            <a:pPr algn="l"/>
            <a:r>
              <a:rPr sz="1500" b="1">
                <a:solidFill>
                  <a:srgbClr val="1A2530"/>
                </a:solidFill>
                <a:latin typeface="Calibri"/>
              </a:rPr>
              <a:t>Validate the 70+ cohort capacity plan</a:t>
            </a:r>
          </a:p>
        </p:txBody>
      </p:sp>
      <p:sp>
        <p:nvSpPr>
          <p:cNvPr id="27" name="TextBox 26"/>
          <p:cNvSpPr txBox="1"/>
          <p:nvPr/>
        </p:nvSpPr>
        <p:spPr>
          <a:xfrm>
            <a:off x="1097280" y="6080760"/>
            <a:ext cx="8686800" cy="457200"/>
          </a:xfrm>
          <a:prstGeom prst="rect">
            <a:avLst/>
          </a:prstGeom>
          <a:noFill/>
        </p:spPr>
        <p:txBody>
          <a:bodyPr wrap="square" anchor="t" lIns="0" rIns="0" tIns="0" bIns="0">
            <a:spAutoFit/>
          </a:bodyPr>
          <a:lstStyle/>
          <a:p>
            <a:pPr algn="l"/>
            <a:r>
              <a:rPr sz="1100" b="0">
                <a:solidFill>
                  <a:srgbClr val="4A5460"/>
                </a:solidFill>
                <a:latin typeface="Calibri"/>
              </a:rPr>
              <a:t>This group drives the largest visit volume. Confirm the schedule, beds, and specialist mix match the load.</a:t>
            </a:r>
          </a:p>
        </p:txBody>
      </p:sp>
      <p:sp>
        <p:nvSpPr>
          <p:cNvPr id="28" name="Rectangle 27"/>
          <p:cNvSpPr/>
          <p:nvPr/>
        </p:nvSpPr>
        <p:spPr>
          <a:xfrm>
            <a:off x="10058400" y="5760720"/>
            <a:ext cx="1371600" cy="365760"/>
          </a:xfrm>
          <a:prstGeom prst="rect">
            <a:avLst/>
          </a:prstGeom>
          <a:solidFill>
            <a:srgbClr val="3D66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58400" y="5788152"/>
            <a:ext cx="1371600" cy="365760"/>
          </a:xfrm>
          <a:prstGeom prst="rect">
            <a:avLst/>
          </a:prstGeom>
          <a:noFill/>
        </p:spPr>
        <p:txBody>
          <a:bodyPr wrap="square" anchor="t" lIns="0" rIns="0" tIns="0" bIns="0">
            <a:spAutoFit/>
          </a:bodyPr>
          <a:lstStyle/>
          <a:p>
            <a:pPr algn="ctr"/>
            <a:r>
              <a:rPr sz="1000" b="1">
                <a:solidFill>
                  <a:srgbClr val="FFFFFF"/>
                </a:solidFill>
                <a:latin typeface="Calibri"/>
              </a:rPr>
              <a:t>Low</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3657600" cy="365760"/>
          </a:xfrm>
          <a:prstGeom prst="rect">
            <a:avLst/>
          </a:prstGeom>
          <a:noFill/>
        </p:spPr>
        <p:txBody>
          <a:bodyPr wrap="square" anchor="t" lIns="0" rIns="0" tIns="0" bIns="0">
            <a:spAutoFit/>
          </a:bodyPr>
          <a:lstStyle/>
          <a:p>
            <a:pPr algn="l"/>
            <a:r>
              <a:rPr sz="1100" b="1">
                <a:solidFill>
                  <a:srgbClr val="D9603F"/>
                </a:solidFill>
                <a:latin typeface="Calibri"/>
              </a:rPr>
              <a:t>12 · Tech stack</a:t>
            </a:r>
          </a:p>
        </p:txBody>
      </p:sp>
      <p:sp>
        <p:nvSpPr>
          <p:cNvPr id="4" name="TextBox 3"/>
          <p:cNvSpPr txBox="1"/>
          <p:nvPr/>
        </p:nvSpPr>
        <p:spPr>
          <a:xfrm>
            <a:off x="548640" y="914400"/>
            <a:ext cx="10058400" cy="731520"/>
          </a:xfrm>
          <a:prstGeom prst="rect">
            <a:avLst/>
          </a:prstGeom>
          <a:noFill/>
        </p:spPr>
        <p:txBody>
          <a:bodyPr wrap="square" anchor="t" lIns="0" rIns="0" tIns="0" bIns="0">
            <a:spAutoFit/>
          </a:bodyPr>
          <a:lstStyle/>
          <a:p>
            <a:pPr algn="l"/>
            <a:r>
              <a:rPr sz="3200" b="1">
                <a:solidFill>
                  <a:srgbClr val="1A2530"/>
                </a:solidFill>
                <a:latin typeface="Georgia"/>
              </a:rPr>
              <a:t>How it was built</a:t>
            </a:r>
          </a:p>
        </p:txBody>
      </p:sp>
      <p:sp>
        <p:nvSpPr>
          <p:cNvPr id="5" name="Rectangle 4"/>
          <p:cNvSpPr/>
          <p:nvPr/>
        </p:nvSpPr>
        <p:spPr>
          <a:xfrm>
            <a:off x="548640" y="2194560"/>
            <a:ext cx="3200400" cy="640080"/>
          </a:xfrm>
          <a:prstGeom prst="rect">
            <a:avLst/>
          </a:prstGeom>
          <a:solidFill>
            <a:srgbClr val="3D66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331720"/>
            <a:ext cx="3200400" cy="457200"/>
          </a:xfrm>
          <a:prstGeom prst="rect">
            <a:avLst/>
          </a:prstGeom>
          <a:noFill/>
        </p:spPr>
        <p:txBody>
          <a:bodyPr wrap="square" anchor="ctr" lIns="0" rIns="0" tIns="0" bIns="0">
            <a:spAutoFit/>
          </a:bodyPr>
          <a:lstStyle/>
          <a:p>
            <a:pPr algn="ctr"/>
            <a:r>
              <a:rPr sz="1400" b="1">
                <a:solidFill>
                  <a:srgbClr val="FFFFFF"/>
                </a:solidFill>
                <a:latin typeface="Calibri"/>
              </a:rPr>
              <a:t>Excel</a:t>
            </a:r>
          </a:p>
        </p:txBody>
      </p:sp>
      <p:sp>
        <p:nvSpPr>
          <p:cNvPr id="7" name="TextBox 6"/>
          <p:cNvSpPr txBox="1"/>
          <p:nvPr/>
        </p:nvSpPr>
        <p:spPr>
          <a:xfrm>
            <a:off x="3931920" y="2331720"/>
            <a:ext cx="7772400" cy="457200"/>
          </a:xfrm>
          <a:prstGeom prst="rect">
            <a:avLst/>
          </a:prstGeom>
          <a:noFill/>
        </p:spPr>
        <p:txBody>
          <a:bodyPr wrap="square" anchor="ctr" lIns="0" rIns="0" tIns="0" bIns="0">
            <a:spAutoFit/>
          </a:bodyPr>
          <a:lstStyle/>
          <a:p>
            <a:pPr algn="l"/>
            <a:r>
              <a:rPr sz="1300" b="0">
                <a:solidFill>
                  <a:srgbClr val="4A5460"/>
                </a:solidFill>
                <a:latin typeface="Calibri"/>
              </a:rPr>
              <a:t>Data cleaning, pivot tables, formulas, and dashboard layout</a:t>
            </a:r>
          </a:p>
        </p:txBody>
      </p:sp>
      <p:sp>
        <p:nvSpPr>
          <p:cNvPr id="8" name="Rectangle 7"/>
          <p:cNvSpPr/>
          <p:nvPr/>
        </p:nvSpPr>
        <p:spPr>
          <a:xfrm>
            <a:off x="548640" y="2971800"/>
            <a:ext cx="3200400" cy="640080"/>
          </a:xfrm>
          <a:prstGeom prst="rect">
            <a:avLst/>
          </a:prstGeom>
          <a:solidFill>
            <a:srgbClr val="3D66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3108960"/>
            <a:ext cx="3200400" cy="457200"/>
          </a:xfrm>
          <a:prstGeom prst="rect">
            <a:avLst/>
          </a:prstGeom>
          <a:noFill/>
        </p:spPr>
        <p:txBody>
          <a:bodyPr wrap="square" anchor="ctr" lIns="0" rIns="0" tIns="0" bIns="0">
            <a:spAutoFit/>
          </a:bodyPr>
          <a:lstStyle/>
          <a:p>
            <a:pPr algn="ctr"/>
            <a:r>
              <a:rPr sz="1400" b="1">
                <a:solidFill>
                  <a:srgbClr val="FFFFFF"/>
                </a:solidFill>
                <a:latin typeface="Calibri"/>
              </a:rPr>
              <a:t>Power Query</a:t>
            </a:r>
          </a:p>
        </p:txBody>
      </p:sp>
      <p:sp>
        <p:nvSpPr>
          <p:cNvPr id="10" name="TextBox 9"/>
          <p:cNvSpPr txBox="1"/>
          <p:nvPr/>
        </p:nvSpPr>
        <p:spPr>
          <a:xfrm>
            <a:off x="3931920" y="3108960"/>
            <a:ext cx="7772400" cy="457200"/>
          </a:xfrm>
          <a:prstGeom prst="rect">
            <a:avLst/>
          </a:prstGeom>
          <a:noFill/>
        </p:spPr>
        <p:txBody>
          <a:bodyPr wrap="square" anchor="ctr" lIns="0" rIns="0" tIns="0" bIns="0">
            <a:spAutoFit/>
          </a:bodyPr>
          <a:lstStyle/>
          <a:p>
            <a:pPr algn="l"/>
            <a:r>
              <a:rPr sz="1300" b="0">
                <a:solidFill>
                  <a:srgbClr val="4A5460"/>
                </a:solidFill>
                <a:latin typeface="Calibri"/>
              </a:rPr>
              <a:t>Date normalization and categorical standardization</a:t>
            </a:r>
          </a:p>
        </p:txBody>
      </p:sp>
      <p:sp>
        <p:nvSpPr>
          <p:cNvPr id="11" name="Rectangle 10"/>
          <p:cNvSpPr/>
          <p:nvPr/>
        </p:nvSpPr>
        <p:spPr>
          <a:xfrm>
            <a:off x="548640" y="3749040"/>
            <a:ext cx="3200400" cy="640080"/>
          </a:xfrm>
          <a:prstGeom prst="rect">
            <a:avLst/>
          </a:prstGeom>
          <a:solidFill>
            <a:srgbClr val="3D66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3886200"/>
            <a:ext cx="3200400" cy="457200"/>
          </a:xfrm>
          <a:prstGeom prst="rect">
            <a:avLst/>
          </a:prstGeom>
          <a:noFill/>
        </p:spPr>
        <p:txBody>
          <a:bodyPr wrap="square" anchor="ctr" lIns="0" rIns="0" tIns="0" bIns="0">
            <a:spAutoFit/>
          </a:bodyPr>
          <a:lstStyle/>
          <a:p>
            <a:pPr algn="ctr"/>
            <a:r>
              <a:rPr sz="1400" b="1">
                <a:solidFill>
                  <a:srgbClr val="FFFFFF"/>
                </a:solidFill>
                <a:latin typeface="Calibri"/>
              </a:rPr>
              <a:t>Pivot Tables and Charts</a:t>
            </a:r>
          </a:p>
        </p:txBody>
      </p:sp>
      <p:sp>
        <p:nvSpPr>
          <p:cNvPr id="13" name="TextBox 12"/>
          <p:cNvSpPr txBox="1"/>
          <p:nvPr/>
        </p:nvSpPr>
        <p:spPr>
          <a:xfrm>
            <a:off x="3931920" y="3886200"/>
            <a:ext cx="7772400" cy="457200"/>
          </a:xfrm>
          <a:prstGeom prst="rect">
            <a:avLst/>
          </a:prstGeom>
          <a:noFill/>
        </p:spPr>
        <p:txBody>
          <a:bodyPr wrap="square" anchor="ctr" lIns="0" rIns="0" tIns="0" bIns="0">
            <a:spAutoFit/>
          </a:bodyPr>
          <a:lstStyle/>
          <a:p>
            <a:pPr algn="l"/>
            <a:r>
              <a:rPr sz="1300" b="0">
                <a:solidFill>
                  <a:srgbClr val="4A5460"/>
                </a:solidFill>
                <a:latin typeface="Calibri"/>
              </a:rPr>
              <a:t>Aggregation by diagnosis, doctor, age group and month</a:t>
            </a:r>
          </a:p>
        </p:txBody>
      </p:sp>
      <p:sp>
        <p:nvSpPr>
          <p:cNvPr id="14" name="Rectangle 13"/>
          <p:cNvSpPr/>
          <p:nvPr/>
        </p:nvSpPr>
        <p:spPr>
          <a:xfrm>
            <a:off x="548640" y="4526280"/>
            <a:ext cx="3200400" cy="640080"/>
          </a:xfrm>
          <a:prstGeom prst="rect">
            <a:avLst/>
          </a:prstGeom>
          <a:solidFill>
            <a:srgbClr val="3D66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4663440"/>
            <a:ext cx="3200400" cy="457200"/>
          </a:xfrm>
          <a:prstGeom prst="rect">
            <a:avLst/>
          </a:prstGeom>
          <a:noFill/>
        </p:spPr>
        <p:txBody>
          <a:bodyPr wrap="square" anchor="ctr" lIns="0" rIns="0" tIns="0" bIns="0">
            <a:spAutoFit/>
          </a:bodyPr>
          <a:lstStyle/>
          <a:p>
            <a:pPr algn="ctr"/>
            <a:r>
              <a:rPr sz="1400" b="1">
                <a:solidFill>
                  <a:srgbClr val="FFFFFF"/>
                </a:solidFill>
                <a:latin typeface="Calibri"/>
              </a:rPr>
              <a:t>Slicers</a:t>
            </a:r>
          </a:p>
        </p:txBody>
      </p:sp>
      <p:sp>
        <p:nvSpPr>
          <p:cNvPr id="16" name="TextBox 15"/>
          <p:cNvSpPr txBox="1"/>
          <p:nvPr/>
        </p:nvSpPr>
        <p:spPr>
          <a:xfrm>
            <a:off x="3931920" y="4663440"/>
            <a:ext cx="7772400" cy="457200"/>
          </a:xfrm>
          <a:prstGeom prst="rect">
            <a:avLst/>
          </a:prstGeom>
          <a:noFill/>
        </p:spPr>
        <p:txBody>
          <a:bodyPr wrap="square" anchor="ctr" lIns="0" rIns="0" tIns="0" bIns="0">
            <a:spAutoFit/>
          </a:bodyPr>
          <a:lstStyle/>
          <a:p>
            <a:pPr algn="l"/>
            <a:r>
              <a:rPr sz="1300" b="0">
                <a:solidFill>
                  <a:srgbClr val="4A5460"/>
                </a:solidFill>
                <a:latin typeface="Calibri"/>
              </a:rPr>
              <a:t>Cross-filter dashboard by gender, diagnosis, and time period</a:t>
            </a:r>
          </a:p>
        </p:txBody>
      </p:sp>
      <p:sp>
        <p:nvSpPr>
          <p:cNvPr id="17" name="Rectangle 16"/>
          <p:cNvSpPr/>
          <p:nvPr/>
        </p:nvSpPr>
        <p:spPr>
          <a:xfrm>
            <a:off x="548640" y="5303520"/>
            <a:ext cx="3200400" cy="640080"/>
          </a:xfrm>
          <a:prstGeom prst="rect">
            <a:avLst/>
          </a:prstGeom>
          <a:solidFill>
            <a:srgbClr val="3D66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440680"/>
            <a:ext cx="3200400" cy="457200"/>
          </a:xfrm>
          <a:prstGeom prst="rect">
            <a:avLst/>
          </a:prstGeom>
          <a:noFill/>
        </p:spPr>
        <p:txBody>
          <a:bodyPr wrap="square" anchor="ctr" lIns="0" rIns="0" tIns="0" bIns="0">
            <a:spAutoFit/>
          </a:bodyPr>
          <a:lstStyle/>
          <a:p>
            <a:pPr algn="ctr"/>
            <a:r>
              <a:rPr sz="1400" b="1">
                <a:solidFill>
                  <a:srgbClr val="FFFFFF"/>
                </a:solidFill>
                <a:latin typeface="Calibri"/>
              </a:rPr>
              <a:t>Conditional Formatting</a:t>
            </a:r>
          </a:p>
        </p:txBody>
      </p:sp>
      <p:sp>
        <p:nvSpPr>
          <p:cNvPr id="19" name="TextBox 18"/>
          <p:cNvSpPr txBox="1"/>
          <p:nvPr/>
        </p:nvSpPr>
        <p:spPr>
          <a:xfrm>
            <a:off x="3931920" y="5440680"/>
            <a:ext cx="7772400" cy="457200"/>
          </a:xfrm>
          <a:prstGeom prst="rect">
            <a:avLst/>
          </a:prstGeom>
          <a:noFill/>
        </p:spPr>
        <p:txBody>
          <a:bodyPr wrap="square" anchor="ctr" lIns="0" rIns="0" tIns="0" bIns="0">
            <a:spAutoFit/>
          </a:bodyPr>
          <a:lstStyle/>
          <a:p>
            <a:pPr algn="l"/>
            <a:r>
              <a:rPr sz="1300" b="0">
                <a:solidFill>
                  <a:srgbClr val="4A5460"/>
                </a:solidFill>
                <a:latin typeface="Calibri"/>
              </a:rPr>
              <a:t>Visual emphasis on outliers and target comparisons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25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822960"/>
            <a:ext cx="457200" cy="73152"/>
          </a:xfrm>
          <a:prstGeom prst="rect">
            <a:avLst/>
          </a:prstGeom>
          <a:solidFill>
            <a:srgbClr val="D960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05840"/>
            <a:ext cx="10058400" cy="457200"/>
          </a:xfrm>
          <a:prstGeom prst="rect">
            <a:avLst/>
          </a:prstGeom>
          <a:noFill/>
        </p:spPr>
        <p:txBody>
          <a:bodyPr wrap="square" anchor="t" lIns="0" rIns="0" tIns="0" bIns="0">
            <a:spAutoFit/>
          </a:bodyPr>
          <a:lstStyle/>
          <a:p>
            <a:pPr algn="l"/>
            <a:r>
              <a:rPr sz="1200" b="1">
                <a:solidFill>
                  <a:srgbClr val="D9603F"/>
                </a:solidFill>
                <a:latin typeface="Calibri"/>
              </a:rPr>
              <a:t>CLOSING</a:t>
            </a:r>
          </a:p>
        </p:txBody>
      </p:sp>
      <p:sp>
        <p:nvSpPr>
          <p:cNvPr id="5" name="TextBox 4"/>
          <p:cNvSpPr txBox="1"/>
          <p:nvPr/>
        </p:nvSpPr>
        <p:spPr>
          <a:xfrm>
            <a:off x="548640" y="1828800"/>
            <a:ext cx="10972800" cy="2286000"/>
          </a:xfrm>
          <a:prstGeom prst="rect">
            <a:avLst/>
          </a:prstGeom>
          <a:noFill/>
        </p:spPr>
        <p:txBody>
          <a:bodyPr wrap="square" anchor="t" lIns="0" rIns="0" tIns="0" bIns="0">
            <a:spAutoFit/>
          </a:bodyPr>
          <a:lstStyle/>
          <a:p>
            <a:pPr algn="l"/>
            <a:r>
              <a:rPr sz="4000" b="1">
                <a:solidFill>
                  <a:srgbClr val="FFFFFF"/>
                </a:solidFill>
                <a:latin typeface="Georgia"/>
              </a:rPr>
              <a:t>When the foundation is right,
the dashboard is the easy part.</a:t>
            </a:r>
          </a:p>
        </p:txBody>
      </p:sp>
      <p:sp>
        <p:nvSpPr>
          <p:cNvPr id="6" name="Rectangle 5"/>
          <p:cNvSpPr/>
          <p:nvPr/>
        </p:nvSpPr>
        <p:spPr>
          <a:xfrm>
            <a:off x="548640" y="4206240"/>
            <a:ext cx="1828800" cy="36576"/>
          </a:xfrm>
          <a:prstGeom prst="rect">
            <a:avLst/>
          </a:prstGeom>
          <a:solidFill>
            <a:srgbClr val="D960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4480560"/>
            <a:ext cx="10972800" cy="457200"/>
          </a:xfrm>
          <a:prstGeom prst="rect">
            <a:avLst/>
          </a:prstGeom>
          <a:noFill/>
        </p:spPr>
        <p:txBody>
          <a:bodyPr wrap="square" anchor="t" lIns="0" rIns="0" tIns="0" bIns="0">
            <a:spAutoFit/>
          </a:bodyPr>
          <a:lstStyle/>
          <a:p>
            <a:pPr algn="l"/>
            <a:r>
              <a:rPr sz="1800" b="1">
                <a:solidFill>
                  <a:srgbClr val="F4F1EA"/>
                </a:solidFill>
                <a:latin typeface="Georgia"/>
              </a:rPr>
              <a:t>Bih Brandy</a:t>
            </a:r>
          </a:p>
        </p:txBody>
      </p:sp>
      <p:sp>
        <p:nvSpPr>
          <p:cNvPr id="8" name="TextBox 7"/>
          <p:cNvSpPr txBox="1"/>
          <p:nvPr/>
        </p:nvSpPr>
        <p:spPr>
          <a:xfrm>
            <a:off x="548640" y="4937760"/>
            <a:ext cx="10972800" cy="457200"/>
          </a:xfrm>
          <a:prstGeom prst="rect">
            <a:avLst/>
          </a:prstGeom>
          <a:noFill/>
        </p:spPr>
        <p:txBody>
          <a:bodyPr wrap="square" anchor="t" lIns="0" rIns="0" tIns="0" bIns="0">
            <a:spAutoFit/>
          </a:bodyPr>
          <a:lstStyle/>
          <a:p>
            <a:pPr algn="l"/>
            <a:r>
              <a:rPr sz="1300" b="0">
                <a:solidFill>
                  <a:srgbClr val="C2A046"/>
                </a:solidFill>
                <a:latin typeface="Calibri"/>
              </a:rPr>
              <a:t>Business Intelligence Analyst · Microsoft Fabric and Power BI Specialist</a:t>
            </a:r>
          </a:p>
        </p:txBody>
      </p:sp>
      <p:sp>
        <p:nvSpPr>
          <p:cNvPr id="9" name="TextBox 8"/>
          <p:cNvSpPr txBox="1"/>
          <p:nvPr/>
        </p:nvSpPr>
        <p:spPr>
          <a:xfrm>
            <a:off x="548640" y="5394960"/>
            <a:ext cx="10972800" cy="457200"/>
          </a:xfrm>
          <a:prstGeom prst="rect">
            <a:avLst/>
          </a:prstGeom>
          <a:noFill/>
        </p:spPr>
        <p:txBody>
          <a:bodyPr wrap="square" anchor="t" lIns="0" rIns="0" tIns="0" bIns="0">
            <a:spAutoFit/>
          </a:bodyPr>
          <a:lstStyle/>
          <a:p>
            <a:pPr algn="l"/>
            <a:r>
              <a:rPr sz="1200" b="0">
                <a:solidFill>
                  <a:srgbClr val="F4F1EA"/>
                </a:solidFill>
                <a:latin typeface="Calibri"/>
              </a:rPr>
              <a:t>Bihbrandy15@gmail.com</a:t>
            </a:r>
          </a:p>
        </p:txBody>
      </p:sp>
      <p:sp>
        <p:nvSpPr>
          <p:cNvPr id="10" name="Rounded Rectangle 9">
            <a:hlinkClick r:id="rId2"/>
          </p:cNvPr>
          <p:cNvSpPr/>
          <p:nvPr/>
        </p:nvSpPr>
        <p:spPr>
          <a:xfrm>
            <a:off x="548640" y="5852160"/>
            <a:ext cx="3291840" cy="457200"/>
          </a:xfrm>
          <a:prstGeom prst="roundRect">
            <a:avLst/>
          </a:prstGeom>
          <a:solidFill>
            <a:srgbClr val="D9603F"/>
          </a:solidFill>
          <a:ln>
            <a:noFill/>
          </a:ln>
        </p:spPr>
        <p:style>
          <a:lnRef idx="1">
            <a:schemeClr val="accent1"/>
          </a:lnRef>
          <a:fillRef idx="3">
            <a:schemeClr val="accent1"/>
          </a:fillRef>
          <a:effectRef idx="2">
            <a:schemeClr val="accent1"/>
          </a:effectRef>
          <a:fontRef idx="minor">
            <a:schemeClr val="lt1"/>
          </a:fontRef>
        </p:style>
        <p:txBody>
          <a:bodyPr rtlCol="0" anchor="ctr" lIns="137160" rIns="137160"/>
          <a:lstStyle/>
          <a:p>
            <a:pPr algn="ctr"/>
            <a:r>
              <a:rPr sz="1200" b="1">
                <a:solidFill>
                  <a:srgbClr val="FFFFFF"/>
                </a:solidFill>
                <a:latin typeface="Calibri"/>
              </a:rPr>
              <a:t>Open live workbook on OneDrive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